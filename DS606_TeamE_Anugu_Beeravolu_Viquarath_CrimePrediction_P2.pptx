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Lst>
  <p:notesMasterIdLst>
    <p:notesMasterId r:id="rId24"/>
  </p:notesMasterIdLst>
  <p:sldIdLst>
    <p:sldId id="257" r:id="rId2"/>
    <p:sldId id="273" r:id="rId3"/>
    <p:sldId id="258" r:id="rId4"/>
    <p:sldId id="260" r:id="rId5"/>
    <p:sldId id="264" r:id="rId6"/>
    <p:sldId id="271" r:id="rId7"/>
    <p:sldId id="274" r:id="rId8"/>
    <p:sldId id="282" r:id="rId9"/>
    <p:sldId id="259" r:id="rId10"/>
    <p:sldId id="261" r:id="rId11"/>
    <p:sldId id="266" r:id="rId12"/>
    <p:sldId id="280" r:id="rId13"/>
    <p:sldId id="279" r:id="rId14"/>
    <p:sldId id="281" r:id="rId15"/>
    <p:sldId id="267" r:id="rId16"/>
    <p:sldId id="276" r:id="rId17"/>
    <p:sldId id="278" r:id="rId18"/>
    <p:sldId id="283" r:id="rId19"/>
    <p:sldId id="284" r:id="rId20"/>
    <p:sldId id="286" r:id="rId21"/>
    <p:sldId id="285" r:id="rId22"/>
    <p:sldId id="28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4" autoAdjust="0"/>
    <p:restoredTop sz="94660"/>
  </p:normalViewPr>
  <p:slideViewPr>
    <p:cSldViewPr snapToGrid="0">
      <p:cViewPr>
        <p:scale>
          <a:sx n="58" d="100"/>
          <a:sy n="58" d="100"/>
        </p:scale>
        <p:origin x="876"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4" Type="http://schemas.openxmlformats.org/officeDocument/2006/relationships/image" Target="../media/image3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FF8CC8-7451-43D5-A9DD-5D9402E9D0A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9578F8B-0A83-4A29-86F6-3325E7219BF6}">
      <dgm:prSet/>
      <dgm:spPr/>
      <dgm:t>
        <a:bodyPr/>
        <a:lstStyle/>
        <a:p>
          <a:pPr>
            <a:lnSpc>
              <a:spcPct val="100000"/>
            </a:lnSpc>
          </a:pPr>
          <a:r>
            <a:rPr lang="en-US"/>
            <a:t>Our project builds on existing research by employing advanced machine-learning techniques and new methods for data analysis. While previous work primarily relied on traditional approaches for categorization and estimation, our approach aims to achieve more precise and localized predictions by utilizing cutting-edge models and a comprehensive set of data features. This enhanced methodology will enable us to better identify and understand crime hotspots and trends, ultimately contributing to more effective public safety strategies.</a:t>
          </a:r>
        </a:p>
      </dgm:t>
    </dgm:pt>
    <dgm:pt modelId="{6DA214C8-DC90-46F5-8792-F9B84082D157}" type="parTrans" cxnId="{28FE09EB-20BE-4BFC-AEBE-AEAB33CE50D4}">
      <dgm:prSet/>
      <dgm:spPr/>
      <dgm:t>
        <a:bodyPr/>
        <a:lstStyle/>
        <a:p>
          <a:endParaRPr lang="en-US"/>
        </a:p>
      </dgm:t>
    </dgm:pt>
    <dgm:pt modelId="{C9C7A26C-9B8E-4638-AEF6-6C2A9B27F10B}" type="sibTrans" cxnId="{28FE09EB-20BE-4BFC-AEBE-AEAB33CE50D4}">
      <dgm:prSet/>
      <dgm:spPr/>
      <dgm:t>
        <a:bodyPr/>
        <a:lstStyle/>
        <a:p>
          <a:endParaRPr lang="en-US"/>
        </a:p>
      </dgm:t>
    </dgm:pt>
    <dgm:pt modelId="{7DDAC1C2-CE04-4860-A38A-B7581AF7D399}">
      <dgm:prSet/>
      <dgm:spPr/>
      <dgm:t>
        <a:bodyPr/>
        <a:lstStyle/>
        <a:p>
          <a:pPr>
            <a:lnSpc>
              <a:spcPct val="100000"/>
            </a:lnSpc>
          </a:pPr>
          <a:r>
            <a:rPr lang="en-US"/>
            <a:t>We integrate both spatial and temporal data to improve prediction accuracy, distinguishing our approach from conventional methods. Additionally, by incorporating attributes such as community areas and law enforcement units, we provide a richer analysis that enhances our understanding of crime dynamics and informs targeted interventions.</a:t>
          </a:r>
        </a:p>
      </dgm:t>
    </dgm:pt>
    <dgm:pt modelId="{C7177B53-57D0-4EE4-BF27-30F0A33D98F1}" type="parTrans" cxnId="{E00DB6A7-37D5-4B07-90F4-EDE4EFB44CBE}">
      <dgm:prSet/>
      <dgm:spPr/>
      <dgm:t>
        <a:bodyPr/>
        <a:lstStyle/>
        <a:p>
          <a:endParaRPr lang="en-US"/>
        </a:p>
      </dgm:t>
    </dgm:pt>
    <dgm:pt modelId="{2BF8ADDF-50AB-4266-9467-B68AEAD3D8F2}" type="sibTrans" cxnId="{E00DB6A7-37D5-4B07-90F4-EDE4EFB44CBE}">
      <dgm:prSet/>
      <dgm:spPr/>
      <dgm:t>
        <a:bodyPr/>
        <a:lstStyle/>
        <a:p>
          <a:endParaRPr lang="en-US"/>
        </a:p>
      </dgm:t>
    </dgm:pt>
    <dgm:pt modelId="{202749CA-8137-4EAD-BB85-830FB536D5E9}" type="pres">
      <dgm:prSet presAssocID="{27FF8CC8-7451-43D5-A9DD-5D9402E9D0AB}" presName="root" presStyleCnt="0">
        <dgm:presLayoutVars>
          <dgm:dir/>
          <dgm:resizeHandles val="exact"/>
        </dgm:presLayoutVars>
      </dgm:prSet>
      <dgm:spPr/>
    </dgm:pt>
    <dgm:pt modelId="{1F728772-DB36-4CC1-A900-9CB8D59CAA1B}" type="pres">
      <dgm:prSet presAssocID="{C9578F8B-0A83-4A29-86F6-3325E7219BF6}" presName="compNode" presStyleCnt="0"/>
      <dgm:spPr/>
    </dgm:pt>
    <dgm:pt modelId="{49C26F88-5F52-4006-9915-EE8D97D91323}" type="pres">
      <dgm:prSet presAssocID="{C9578F8B-0A83-4A29-86F6-3325E7219BF6}" presName="bgRect" presStyleLbl="bgShp" presStyleIdx="0" presStyleCnt="2"/>
      <dgm:spPr/>
    </dgm:pt>
    <dgm:pt modelId="{7275ED91-C57E-41A7-A33C-B69C20911586}" type="pres">
      <dgm:prSet presAssocID="{C9578F8B-0A83-4A29-86F6-3325E7219BF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05497ADF-2BED-4475-9A1E-6395CCEDA454}" type="pres">
      <dgm:prSet presAssocID="{C9578F8B-0A83-4A29-86F6-3325E7219BF6}" presName="spaceRect" presStyleCnt="0"/>
      <dgm:spPr/>
    </dgm:pt>
    <dgm:pt modelId="{82838190-2516-460B-A064-DB2680235408}" type="pres">
      <dgm:prSet presAssocID="{C9578F8B-0A83-4A29-86F6-3325E7219BF6}" presName="parTx" presStyleLbl="revTx" presStyleIdx="0" presStyleCnt="2">
        <dgm:presLayoutVars>
          <dgm:chMax val="0"/>
          <dgm:chPref val="0"/>
        </dgm:presLayoutVars>
      </dgm:prSet>
      <dgm:spPr/>
    </dgm:pt>
    <dgm:pt modelId="{DC47822B-2002-436D-AF8B-17BAF7B36528}" type="pres">
      <dgm:prSet presAssocID="{C9C7A26C-9B8E-4638-AEF6-6C2A9B27F10B}" presName="sibTrans" presStyleCnt="0"/>
      <dgm:spPr/>
    </dgm:pt>
    <dgm:pt modelId="{E6773F0A-B1BD-4A06-A7BA-CE3A06AA96A5}" type="pres">
      <dgm:prSet presAssocID="{7DDAC1C2-CE04-4860-A38A-B7581AF7D399}" presName="compNode" presStyleCnt="0"/>
      <dgm:spPr/>
    </dgm:pt>
    <dgm:pt modelId="{BA5F8982-8445-470C-B5F1-57D8DC5943F5}" type="pres">
      <dgm:prSet presAssocID="{7DDAC1C2-CE04-4860-A38A-B7581AF7D399}" presName="bgRect" presStyleLbl="bgShp" presStyleIdx="1" presStyleCnt="2"/>
      <dgm:spPr/>
    </dgm:pt>
    <dgm:pt modelId="{5B37E5E1-D833-4A92-A511-5B9AF72A64D5}" type="pres">
      <dgm:prSet presAssocID="{7DDAC1C2-CE04-4860-A38A-B7581AF7D39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llseye"/>
        </a:ext>
      </dgm:extLst>
    </dgm:pt>
    <dgm:pt modelId="{8FD76EB3-DE21-4900-86A1-E3410841A1D1}" type="pres">
      <dgm:prSet presAssocID="{7DDAC1C2-CE04-4860-A38A-B7581AF7D399}" presName="spaceRect" presStyleCnt="0"/>
      <dgm:spPr/>
    </dgm:pt>
    <dgm:pt modelId="{7BC63563-3653-49C0-971A-65CA6EFE2361}" type="pres">
      <dgm:prSet presAssocID="{7DDAC1C2-CE04-4860-A38A-B7581AF7D399}" presName="parTx" presStyleLbl="revTx" presStyleIdx="1" presStyleCnt="2">
        <dgm:presLayoutVars>
          <dgm:chMax val="0"/>
          <dgm:chPref val="0"/>
        </dgm:presLayoutVars>
      </dgm:prSet>
      <dgm:spPr/>
    </dgm:pt>
  </dgm:ptLst>
  <dgm:cxnLst>
    <dgm:cxn modelId="{413E785A-0EC7-4B32-B100-4B27E963B7E8}" type="presOf" srcId="{C9578F8B-0A83-4A29-86F6-3325E7219BF6}" destId="{82838190-2516-460B-A064-DB2680235408}" srcOrd="0" destOrd="0" presId="urn:microsoft.com/office/officeart/2018/2/layout/IconVerticalSolidList"/>
    <dgm:cxn modelId="{7F46CF97-DCE0-4E87-93E4-266EF4ADA915}" type="presOf" srcId="{7DDAC1C2-CE04-4860-A38A-B7581AF7D399}" destId="{7BC63563-3653-49C0-971A-65CA6EFE2361}" srcOrd="0" destOrd="0" presId="urn:microsoft.com/office/officeart/2018/2/layout/IconVerticalSolidList"/>
    <dgm:cxn modelId="{A2A3179D-23DC-490F-838A-D0B117544E4F}" type="presOf" srcId="{27FF8CC8-7451-43D5-A9DD-5D9402E9D0AB}" destId="{202749CA-8137-4EAD-BB85-830FB536D5E9}" srcOrd="0" destOrd="0" presId="urn:microsoft.com/office/officeart/2018/2/layout/IconVerticalSolidList"/>
    <dgm:cxn modelId="{E00DB6A7-37D5-4B07-90F4-EDE4EFB44CBE}" srcId="{27FF8CC8-7451-43D5-A9DD-5D9402E9D0AB}" destId="{7DDAC1C2-CE04-4860-A38A-B7581AF7D399}" srcOrd="1" destOrd="0" parTransId="{C7177B53-57D0-4EE4-BF27-30F0A33D98F1}" sibTransId="{2BF8ADDF-50AB-4266-9467-B68AEAD3D8F2}"/>
    <dgm:cxn modelId="{28FE09EB-20BE-4BFC-AEBE-AEAB33CE50D4}" srcId="{27FF8CC8-7451-43D5-A9DD-5D9402E9D0AB}" destId="{C9578F8B-0A83-4A29-86F6-3325E7219BF6}" srcOrd="0" destOrd="0" parTransId="{6DA214C8-DC90-46F5-8792-F9B84082D157}" sibTransId="{C9C7A26C-9B8E-4638-AEF6-6C2A9B27F10B}"/>
    <dgm:cxn modelId="{76444794-229C-4811-A09E-FF08300D92B2}" type="presParOf" srcId="{202749CA-8137-4EAD-BB85-830FB536D5E9}" destId="{1F728772-DB36-4CC1-A900-9CB8D59CAA1B}" srcOrd="0" destOrd="0" presId="urn:microsoft.com/office/officeart/2018/2/layout/IconVerticalSolidList"/>
    <dgm:cxn modelId="{26E89B93-A310-4995-B9BA-D93365020648}" type="presParOf" srcId="{1F728772-DB36-4CC1-A900-9CB8D59CAA1B}" destId="{49C26F88-5F52-4006-9915-EE8D97D91323}" srcOrd="0" destOrd="0" presId="urn:microsoft.com/office/officeart/2018/2/layout/IconVerticalSolidList"/>
    <dgm:cxn modelId="{7EE46FEA-856A-42E4-9CB4-BA58EF1DABED}" type="presParOf" srcId="{1F728772-DB36-4CC1-A900-9CB8D59CAA1B}" destId="{7275ED91-C57E-41A7-A33C-B69C20911586}" srcOrd="1" destOrd="0" presId="urn:microsoft.com/office/officeart/2018/2/layout/IconVerticalSolidList"/>
    <dgm:cxn modelId="{8F935C46-579F-49AD-A67B-D650F4AA06A9}" type="presParOf" srcId="{1F728772-DB36-4CC1-A900-9CB8D59CAA1B}" destId="{05497ADF-2BED-4475-9A1E-6395CCEDA454}" srcOrd="2" destOrd="0" presId="urn:microsoft.com/office/officeart/2018/2/layout/IconVerticalSolidList"/>
    <dgm:cxn modelId="{DD94D62B-6247-4110-ACB6-840F75A6DFB8}" type="presParOf" srcId="{1F728772-DB36-4CC1-A900-9CB8D59CAA1B}" destId="{82838190-2516-460B-A064-DB2680235408}" srcOrd="3" destOrd="0" presId="urn:microsoft.com/office/officeart/2018/2/layout/IconVerticalSolidList"/>
    <dgm:cxn modelId="{FE0D0FEF-FA6B-4DBC-A69B-51D51D1A3E95}" type="presParOf" srcId="{202749CA-8137-4EAD-BB85-830FB536D5E9}" destId="{DC47822B-2002-436D-AF8B-17BAF7B36528}" srcOrd="1" destOrd="0" presId="urn:microsoft.com/office/officeart/2018/2/layout/IconVerticalSolidList"/>
    <dgm:cxn modelId="{0AD8C94B-A5E2-41BC-A920-930A11670011}" type="presParOf" srcId="{202749CA-8137-4EAD-BB85-830FB536D5E9}" destId="{E6773F0A-B1BD-4A06-A7BA-CE3A06AA96A5}" srcOrd="2" destOrd="0" presId="urn:microsoft.com/office/officeart/2018/2/layout/IconVerticalSolidList"/>
    <dgm:cxn modelId="{7380411A-DAAB-4E89-8758-EE79EED7684C}" type="presParOf" srcId="{E6773F0A-B1BD-4A06-A7BA-CE3A06AA96A5}" destId="{BA5F8982-8445-470C-B5F1-57D8DC5943F5}" srcOrd="0" destOrd="0" presId="urn:microsoft.com/office/officeart/2018/2/layout/IconVerticalSolidList"/>
    <dgm:cxn modelId="{507720FF-7F87-4C08-A5DC-ABF179663CC1}" type="presParOf" srcId="{E6773F0A-B1BD-4A06-A7BA-CE3A06AA96A5}" destId="{5B37E5E1-D833-4A92-A511-5B9AF72A64D5}" srcOrd="1" destOrd="0" presId="urn:microsoft.com/office/officeart/2018/2/layout/IconVerticalSolidList"/>
    <dgm:cxn modelId="{02F0D6D2-4E70-42A3-9D86-726F791C5558}" type="presParOf" srcId="{E6773F0A-B1BD-4A06-A7BA-CE3A06AA96A5}" destId="{8FD76EB3-DE21-4900-86A1-E3410841A1D1}" srcOrd="2" destOrd="0" presId="urn:microsoft.com/office/officeart/2018/2/layout/IconVerticalSolidList"/>
    <dgm:cxn modelId="{CFBF3B72-8438-49FD-B1C8-983F94F1A3A1}" type="presParOf" srcId="{E6773F0A-B1BD-4A06-A7BA-CE3A06AA96A5}" destId="{7BC63563-3653-49C0-971A-65CA6EFE236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D1503B-4FA8-4BA2-A6C0-F7DEDC76F700}"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25AA5DF3-5D01-420E-9117-A8264B3650EF}">
      <dgm:prSet/>
      <dgm:spPr/>
      <dgm:t>
        <a:bodyPr/>
        <a:lstStyle/>
        <a:p>
          <a:r>
            <a:rPr lang="en-US" b="1"/>
            <a:t>Violent Crimes:</a:t>
          </a:r>
          <a:r>
            <a:rPr lang="en-US"/>
            <a:t> Assault, homicide, battery</a:t>
          </a:r>
        </a:p>
      </dgm:t>
    </dgm:pt>
    <dgm:pt modelId="{7B06F045-D75E-49D6-A817-01BDB94FAFB1}" type="parTrans" cxnId="{2FE66B1C-118F-4A2F-B382-51001AE489ED}">
      <dgm:prSet/>
      <dgm:spPr/>
      <dgm:t>
        <a:bodyPr/>
        <a:lstStyle/>
        <a:p>
          <a:endParaRPr lang="en-US"/>
        </a:p>
      </dgm:t>
    </dgm:pt>
    <dgm:pt modelId="{5DB994D2-7EEF-431D-834A-56DFE9384E81}" type="sibTrans" cxnId="{2FE66B1C-118F-4A2F-B382-51001AE489ED}">
      <dgm:prSet/>
      <dgm:spPr/>
      <dgm:t>
        <a:bodyPr/>
        <a:lstStyle/>
        <a:p>
          <a:endParaRPr lang="en-US"/>
        </a:p>
      </dgm:t>
    </dgm:pt>
    <dgm:pt modelId="{33C7ECE9-C130-4F5A-8654-EC5D68C5CD55}">
      <dgm:prSet/>
      <dgm:spPr/>
      <dgm:t>
        <a:bodyPr/>
        <a:lstStyle/>
        <a:p>
          <a:r>
            <a:rPr lang="en-US" b="1"/>
            <a:t>Property Crimes:</a:t>
          </a:r>
          <a:r>
            <a:rPr lang="en-US"/>
            <a:t> Burglary, robbery, motor vehicle theft</a:t>
          </a:r>
        </a:p>
      </dgm:t>
    </dgm:pt>
    <dgm:pt modelId="{FC29D9DC-5B6D-43D7-9371-BCAD047D25B9}" type="parTrans" cxnId="{182B05A8-A219-4CAF-92FD-5895CE0A4760}">
      <dgm:prSet/>
      <dgm:spPr/>
      <dgm:t>
        <a:bodyPr/>
        <a:lstStyle/>
        <a:p>
          <a:endParaRPr lang="en-US"/>
        </a:p>
      </dgm:t>
    </dgm:pt>
    <dgm:pt modelId="{70042C2A-5E65-4870-8639-901DBC97E0C8}" type="sibTrans" cxnId="{182B05A8-A219-4CAF-92FD-5895CE0A4760}">
      <dgm:prSet/>
      <dgm:spPr/>
      <dgm:t>
        <a:bodyPr/>
        <a:lstStyle/>
        <a:p>
          <a:endParaRPr lang="en-US"/>
        </a:p>
      </dgm:t>
    </dgm:pt>
    <dgm:pt modelId="{511251DD-730D-4C1C-9A4C-9D737C70AEAF}">
      <dgm:prSet/>
      <dgm:spPr/>
      <dgm:t>
        <a:bodyPr/>
        <a:lstStyle/>
        <a:p>
          <a:r>
            <a:rPr lang="en-US" b="1"/>
            <a:t>Drug-Related Crimes:</a:t>
          </a:r>
          <a:r>
            <a:rPr lang="en-US"/>
            <a:t> Drug possession, distribution, trafficking</a:t>
          </a:r>
        </a:p>
      </dgm:t>
    </dgm:pt>
    <dgm:pt modelId="{81FCF1B6-E296-4488-8B32-6749D607456D}" type="parTrans" cxnId="{CBDF55C9-4D4F-4837-A444-59B50B641AF9}">
      <dgm:prSet/>
      <dgm:spPr/>
      <dgm:t>
        <a:bodyPr/>
        <a:lstStyle/>
        <a:p>
          <a:endParaRPr lang="en-US"/>
        </a:p>
      </dgm:t>
    </dgm:pt>
    <dgm:pt modelId="{D9AAAD1A-7551-414D-845A-7B9D42C8898C}" type="sibTrans" cxnId="{CBDF55C9-4D4F-4837-A444-59B50B641AF9}">
      <dgm:prSet/>
      <dgm:spPr/>
      <dgm:t>
        <a:bodyPr/>
        <a:lstStyle/>
        <a:p>
          <a:endParaRPr lang="en-US"/>
        </a:p>
      </dgm:t>
    </dgm:pt>
    <dgm:pt modelId="{2A993F9E-0681-4116-A9A5-6F7444071ABA}">
      <dgm:prSet/>
      <dgm:spPr/>
      <dgm:t>
        <a:bodyPr/>
        <a:lstStyle/>
        <a:p>
          <a:r>
            <a:rPr lang="en-US" b="1"/>
            <a:t>Public Order Crimes:</a:t>
          </a:r>
          <a:r>
            <a:rPr lang="en-US"/>
            <a:t> Disorderly conduct, public intoxication</a:t>
          </a:r>
        </a:p>
      </dgm:t>
    </dgm:pt>
    <dgm:pt modelId="{E11CD2C2-B836-48DA-A5E4-4C7A98AB7F93}" type="parTrans" cxnId="{70E97E05-9226-44FE-B96E-0ABD374A9335}">
      <dgm:prSet/>
      <dgm:spPr/>
      <dgm:t>
        <a:bodyPr/>
        <a:lstStyle/>
        <a:p>
          <a:endParaRPr lang="en-US"/>
        </a:p>
      </dgm:t>
    </dgm:pt>
    <dgm:pt modelId="{9B0978D0-9F58-4092-B3C4-CD5AB0EC607F}" type="sibTrans" cxnId="{70E97E05-9226-44FE-B96E-0ABD374A9335}">
      <dgm:prSet/>
      <dgm:spPr/>
      <dgm:t>
        <a:bodyPr/>
        <a:lstStyle/>
        <a:p>
          <a:endParaRPr lang="en-US"/>
        </a:p>
      </dgm:t>
    </dgm:pt>
    <dgm:pt modelId="{AD47B72B-5528-4F1B-B187-289E47E6B3C7}">
      <dgm:prSet/>
      <dgm:spPr/>
      <dgm:t>
        <a:bodyPr/>
        <a:lstStyle/>
        <a:p>
          <a:r>
            <a:rPr lang="en-US" b="1"/>
            <a:t>Other Crimes:</a:t>
          </a:r>
          <a:r>
            <a:rPr lang="en-US"/>
            <a:t> Miscellaneous categories</a:t>
          </a:r>
        </a:p>
      </dgm:t>
    </dgm:pt>
    <dgm:pt modelId="{60EF5269-226D-4DAF-903F-29B3C1D2E1B7}" type="parTrans" cxnId="{B602BA97-AC02-4D36-91B7-FF2E02D2B81C}">
      <dgm:prSet/>
      <dgm:spPr/>
      <dgm:t>
        <a:bodyPr/>
        <a:lstStyle/>
        <a:p>
          <a:endParaRPr lang="en-US"/>
        </a:p>
      </dgm:t>
    </dgm:pt>
    <dgm:pt modelId="{AE205CF7-71ED-47AA-B228-433FCA6B4B90}" type="sibTrans" cxnId="{B602BA97-AC02-4D36-91B7-FF2E02D2B81C}">
      <dgm:prSet/>
      <dgm:spPr/>
      <dgm:t>
        <a:bodyPr/>
        <a:lstStyle/>
        <a:p>
          <a:endParaRPr lang="en-US"/>
        </a:p>
      </dgm:t>
    </dgm:pt>
    <dgm:pt modelId="{4F9A9A0E-21E2-48A1-B357-E96497C4283E}" type="pres">
      <dgm:prSet presAssocID="{38D1503B-4FA8-4BA2-A6C0-F7DEDC76F700}" presName="diagram" presStyleCnt="0">
        <dgm:presLayoutVars>
          <dgm:dir/>
          <dgm:resizeHandles val="exact"/>
        </dgm:presLayoutVars>
      </dgm:prSet>
      <dgm:spPr/>
    </dgm:pt>
    <dgm:pt modelId="{9C3A587A-A73B-487B-B919-41234F9A89E1}" type="pres">
      <dgm:prSet presAssocID="{25AA5DF3-5D01-420E-9117-A8264B3650EF}" presName="node" presStyleLbl="node1" presStyleIdx="0" presStyleCnt="5">
        <dgm:presLayoutVars>
          <dgm:bulletEnabled val="1"/>
        </dgm:presLayoutVars>
      </dgm:prSet>
      <dgm:spPr/>
    </dgm:pt>
    <dgm:pt modelId="{0609E739-1E65-4986-96C3-57FFF524AD83}" type="pres">
      <dgm:prSet presAssocID="{5DB994D2-7EEF-431D-834A-56DFE9384E81}" presName="sibTrans" presStyleCnt="0"/>
      <dgm:spPr/>
    </dgm:pt>
    <dgm:pt modelId="{87796980-D32E-4FBA-9D42-77EE604E6D70}" type="pres">
      <dgm:prSet presAssocID="{33C7ECE9-C130-4F5A-8654-EC5D68C5CD55}" presName="node" presStyleLbl="node1" presStyleIdx="1" presStyleCnt="5">
        <dgm:presLayoutVars>
          <dgm:bulletEnabled val="1"/>
        </dgm:presLayoutVars>
      </dgm:prSet>
      <dgm:spPr/>
    </dgm:pt>
    <dgm:pt modelId="{E53E09E8-54B2-4543-9373-86104203653F}" type="pres">
      <dgm:prSet presAssocID="{70042C2A-5E65-4870-8639-901DBC97E0C8}" presName="sibTrans" presStyleCnt="0"/>
      <dgm:spPr/>
    </dgm:pt>
    <dgm:pt modelId="{9FC2B9A4-A066-4B10-8451-C6AC76204AC5}" type="pres">
      <dgm:prSet presAssocID="{511251DD-730D-4C1C-9A4C-9D737C70AEAF}" presName="node" presStyleLbl="node1" presStyleIdx="2" presStyleCnt="5" custScaleX="117177">
        <dgm:presLayoutVars>
          <dgm:bulletEnabled val="1"/>
        </dgm:presLayoutVars>
      </dgm:prSet>
      <dgm:spPr/>
    </dgm:pt>
    <dgm:pt modelId="{C49B09C9-AC1D-47F0-A2FC-303BDD6E483F}" type="pres">
      <dgm:prSet presAssocID="{D9AAAD1A-7551-414D-845A-7B9D42C8898C}" presName="sibTrans" presStyleCnt="0"/>
      <dgm:spPr/>
    </dgm:pt>
    <dgm:pt modelId="{DD25B075-8EC5-4D9D-B8B3-EBDF42515A63}" type="pres">
      <dgm:prSet presAssocID="{2A993F9E-0681-4116-A9A5-6F7444071ABA}" presName="node" presStyleLbl="node1" presStyleIdx="3" presStyleCnt="5">
        <dgm:presLayoutVars>
          <dgm:bulletEnabled val="1"/>
        </dgm:presLayoutVars>
      </dgm:prSet>
      <dgm:spPr/>
    </dgm:pt>
    <dgm:pt modelId="{5CE1648B-3F29-4871-9772-F81584E5871A}" type="pres">
      <dgm:prSet presAssocID="{9B0978D0-9F58-4092-B3C4-CD5AB0EC607F}" presName="sibTrans" presStyleCnt="0"/>
      <dgm:spPr/>
    </dgm:pt>
    <dgm:pt modelId="{3E62A9B8-66EA-4C1D-8D71-B575F6236E24}" type="pres">
      <dgm:prSet presAssocID="{AD47B72B-5528-4F1B-B187-289E47E6B3C7}" presName="node" presStyleLbl="node1" presStyleIdx="4" presStyleCnt="5">
        <dgm:presLayoutVars>
          <dgm:bulletEnabled val="1"/>
        </dgm:presLayoutVars>
      </dgm:prSet>
      <dgm:spPr/>
    </dgm:pt>
  </dgm:ptLst>
  <dgm:cxnLst>
    <dgm:cxn modelId="{70E97E05-9226-44FE-B96E-0ABD374A9335}" srcId="{38D1503B-4FA8-4BA2-A6C0-F7DEDC76F700}" destId="{2A993F9E-0681-4116-A9A5-6F7444071ABA}" srcOrd="3" destOrd="0" parTransId="{E11CD2C2-B836-48DA-A5E4-4C7A98AB7F93}" sibTransId="{9B0978D0-9F58-4092-B3C4-CD5AB0EC607F}"/>
    <dgm:cxn modelId="{2FE66B1C-118F-4A2F-B382-51001AE489ED}" srcId="{38D1503B-4FA8-4BA2-A6C0-F7DEDC76F700}" destId="{25AA5DF3-5D01-420E-9117-A8264B3650EF}" srcOrd="0" destOrd="0" parTransId="{7B06F045-D75E-49D6-A817-01BDB94FAFB1}" sibTransId="{5DB994D2-7EEF-431D-834A-56DFE9384E81}"/>
    <dgm:cxn modelId="{A072F022-7586-4D7B-B63D-E027B0DC00C0}" type="presOf" srcId="{511251DD-730D-4C1C-9A4C-9D737C70AEAF}" destId="{9FC2B9A4-A066-4B10-8451-C6AC76204AC5}" srcOrd="0" destOrd="0" presId="urn:microsoft.com/office/officeart/2005/8/layout/default"/>
    <dgm:cxn modelId="{1C25DB28-C52B-4DCD-B6C2-A30549CC7237}" type="presOf" srcId="{33C7ECE9-C130-4F5A-8654-EC5D68C5CD55}" destId="{87796980-D32E-4FBA-9D42-77EE604E6D70}" srcOrd="0" destOrd="0" presId="urn:microsoft.com/office/officeart/2005/8/layout/default"/>
    <dgm:cxn modelId="{EC7DDB2D-2B01-4358-9740-84BD10A7F3C8}" type="presOf" srcId="{25AA5DF3-5D01-420E-9117-A8264B3650EF}" destId="{9C3A587A-A73B-487B-B919-41234F9A89E1}" srcOrd="0" destOrd="0" presId="urn:microsoft.com/office/officeart/2005/8/layout/default"/>
    <dgm:cxn modelId="{0F461E8E-BDC3-423E-AD04-9468F82095E8}" type="presOf" srcId="{38D1503B-4FA8-4BA2-A6C0-F7DEDC76F700}" destId="{4F9A9A0E-21E2-48A1-B357-E96497C4283E}" srcOrd="0" destOrd="0" presId="urn:microsoft.com/office/officeart/2005/8/layout/default"/>
    <dgm:cxn modelId="{2276B290-436A-47B6-A3C4-0E80B3B01812}" type="presOf" srcId="{AD47B72B-5528-4F1B-B187-289E47E6B3C7}" destId="{3E62A9B8-66EA-4C1D-8D71-B575F6236E24}" srcOrd="0" destOrd="0" presId="urn:microsoft.com/office/officeart/2005/8/layout/default"/>
    <dgm:cxn modelId="{B602BA97-AC02-4D36-91B7-FF2E02D2B81C}" srcId="{38D1503B-4FA8-4BA2-A6C0-F7DEDC76F700}" destId="{AD47B72B-5528-4F1B-B187-289E47E6B3C7}" srcOrd="4" destOrd="0" parTransId="{60EF5269-226D-4DAF-903F-29B3C1D2E1B7}" sibTransId="{AE205CF7-71ED-47AA-B228-433FCA6B4B90}"/>
    <dgm:cxn modelId="{182B05A8-A219-4CAF-92FD-5895CE0A4760}" srcId="{38D1503B-4FA8-4BA2-A6C0-F7DEDC76F700}" destId="{33C7ECE9-C130-4F5A-8654-EC5D68C5CD55}" srcOrd="1" destOrd="0" parTransId="{FC29D9DC-5B6D-43D7-9371-BCAD047D25B9}" sibTransId="{70042C2A-5E65-4870-8639-901DBC97E0C8}"/>
    <dgm:cxn modelId="{CBDF55C9-4D4F-4837-A444-59B50B641AF9}" srcId="{38D1503B-4FA8-4BA2-A6C0-F7DEDC76F700}" destId="{511251DD-730D-4C1C-9A4C-9D737C70AEAF}" srcOrd="2" destOrd="0" parTransId="{81FCF1B6-E296-4488-8B32-6749D607456D}" sibTransId="{D9AAAD1A-7551-414D-845A-7B9D42C8898C}"/>
    <dgm:cxn modelId="{A6E425FD-DF9A-4C47-8604-BA1B7A55ABF3}" type="presOf" srcId="{2A993F9E-0681-4116-A9A5-6F7444071ABA}" destId="{DD25B075-8EC5-4D9D-B8B3-EBDF42515A63}" srcOrd="0" destOrd="0" presId="urn:microsoft.com/office/officeart/2005/8/layout/default"/>
    <dgm:cxn modelId="{CDB148A4-BE0B-416A-9393-AE16EA2C062A}" type="presParOf" srcId="{4F9A9A0E-21E2-48A1-B357-E96497C4283E}" destId="{9C3A587A-A73B-487B-B919-41234F9A89E1}" srcOrd="0" destOrd="0" presId="urn:microsoft.com/office/officeart/2005/8/layout/default"/>
    <dgm:cxn modelId="{62E533F1-1ECD-4016-9956-21E27F69464A}" type="presParOf" srcId="{4F9A9A0E-21E2-48A1-B357-E96497C4283E}" destId="{0609E739-1E65-4986-96C3-57FFF524AD83}" srcOrd="1" destOrd="0" presId="urn:microsoft.com/office/officeart/2005/8/layout/default"/>
    <dgm:cxn modelId="{F427F600-6244-44A5-9231-869DD79AE35F}" type="presParOf" srcId="{4F9A9A0E-21E2-48A1-B357-E96497C4283E}" destId="{87796980-D32E-4FBA-9D42-77EE604E6D70}" srcOrd="2" destOrd="0" presId="urn:microsoft.com/office/officeart/2005/8/layout/default"/>
    <dgm:cxn modelId="{D901112F-538F-48A5-AE85-41A729F075C7}" type="presParOf" srcId="{4F9A9A0E-21E2-48A1-B357-E96497C4283E}" destId="{E53E09E8-54B2-4543-9373-86104203653F}" srcOrd="3" destOrd="0" presId="urn:microsoft.com/office/officeart/2005/8/layout/default"/>
    <dgm:cxn modelId="{64DC9B8A-B65F-4AB4-A1E8-F09D8A9FAC54}" type="presParOf" srcId="{4F9A9A0E-21E2-48A1-B357-E96497C4283E}" destId="{9FC2B9A4-A066-4B10-8451-C6AC76204AC5}" srcOrd="4" destOrd="0" presId="urn:microsoft.com/office/officeart/2005/8/layout/default"/>
    <dgm:cxn modelId="{0482C1A4-DD80-449F-96F7-C3DFCC42E158}" type="presParOf" srcId="{4F9A9A0E-21E2-48A1-B357-E96497C4283E}" destId="{C49B09C9-AC1D-47F0-A2FC-303BDD6E483F}" srcOrd="5" destOrd="0" presId="urn:microsoft.com/office/officeart/2005/8/layout/default"/>
    <dgm:cxn modelId="{F989195E-A7AB-4AED-B1FE-9C002419288C}" type="presParOf" srcId="{4F9A9A0E-21E2-48A1-B357-E96497C4283E}" destId="{DD25B075-8EC5-4D9D-B8B3-EBDF42515A63}" srcOrd="6" destOrd="0" presId="urn:microsoft.com/office/officeart/2005/8/layout/default"/>
    <dgm:cxn modelId="{08EA4E72-2FD9-4ED1-9196-F7D34379724A}" type="presParOf" srcId="{4F9A9A0E-21E2-48A1-B357-E96497C4283E}" destId="{5CE1648B-3F29-4871-9772-F81584E5871A}" srcOrd="7" destOrd="0" presId="urn:microsoft.com/office/officeart/2005/8/layout/default"/>
    <dgm:cxn modelId="{09FBC24D-51BD-433B-B270-97A16C871E07}" type="presParOf" srcId="{4F9A9A0E-21E2-48A1-B357-E96497C4283E}" destId="{3E62A9B8-66EA-4C1D-8D71-B575F6236E24}"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425BF2-54DF-42E1-A9D9-9C878A1587E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3BBA6C3-9B7C-4645-9D0B-320311AAFAED}">
      <dgm:prSet/>
      <dgm:spPr/>
      <dgm:t>
        <a:bodyPr/>
        <a:lstStyle/>
        <a:p>
          <a:pPr>
            <a:lnSpc>
              <a:spcPct val="100000"/>
            </a:lnSpc>
          </a:pPr>
          <a:r>
            <a:rPr lang="en-US"/>
            <a:t>Since the ADF test indicated non-stationarity, we will consider differencing the data further to achieve stationarity.</a:t>
          </a:r>
        </a:p>
      </dgm:t>
    </dgm:pt>
    <dgm:pt modelId="{A7B7E668-BA58-4BBD-A147-1FF0FC7F3CEC}" type="parTrans" cxnId="{186D8CDE-DC8C-44E6-80C7-6212E042B9D2}">
      <dgm:prSet/>
      <dgm:spPr/>
      <dgm:t>
        <a:bodyPr/>
        <a:lstStyle/>
        <a:p>
          <a:endParaRPr lang="en-US"/>
        </a:p>
      </dgm:t>
    </dgm:pt>
    <dgm:pt modelId="{0CACF8F6-88A1-4C89-932B-5FC6FE1DC15B}" type="sibTrans" cxnId="{186D8CDE-DC8C-44E6-80C7-6212E042B9D2}">
      <dgm:prSet/>
      <dgm:spPr/>
      <dgm:t>
        <a:bodyPr/>
        <a:lstStyle/>
        <a:p>
          <a:endParaRPr lang="en-US"/>
        </a:p>
      </dgm:t>
    </dgm:pt>
    <dgm:pt modelId="{49DCE8A6-F7B0-4BE7-B990-3FAEFAB9CB20}">
      <dgm:prSet/>
      <dgm:spPr/>
      <dgm:t>
        <a:bodyPr/>
        <a:lstStyle/>
        <a:p>
          <a:pPr>
            <a:lnSpc>
              <a:spcPct val="100000"/>
            </a:lnSpc>
          </a:pPr>
          <a:r>
            <a:rPr lang="en-US"/>
            <a:t>Use techniques like grid search or automated tools (like pmdarima) to find the best parameters.</a:t>
          </a:r>
        </a:p>
      </dgm:t>
    </dgm:pt>
    <dgm:pt modelId="{9A76AD00-69B3-489E-A0ED-BBEE9843115A}" type="parTrans" cxnId="{74E493B0-6B11-4125-8CB8-E9F649DACDD3}">
      <dgm:prSet/>
      <dgm:spPr/>
      <dgm:t>
        <a:bodyPr/>
        <a:lstStyle/>
        <a:p>
          <a:endParaRPr lang="en-US"/>
        </a:p>
      </dgm:t>
    </dgm:pt>
    <dgm:pt modelId="{874D94B6-3C87-41BE-924F-05381B21AA72}" type="sibTrans" cxnId="{74E493B0-6B11-4125-8CB8-E9F649DACDD3}">
      <dgm:prSet/>
      <dgm:spPr/>
      <dgm:t>
        <a:bodyPr/>
        <a:lstStyle/>
        <a:p>
          <a:endParaRPr lang="en-US"/>
        </a:p>
      </dgm:t>
    </dgm:pt>
    <dgm:pt modelId="{5DEA491B-763B-4AD8-8499-D491E5409023}" type="pres">
      <dgm:prSet presAssocID="{B6425BF2-54DF-42E1-A9D9-9C878A1587E1}" presName="root" presStyleCnt="0">
        <dgm:presLayoutVars>
          <dgm:dir/>
          <dgm:resizeHandles val="exact"/>
        </dgm:presLayoutVars>
      </dgm:prSet>
      <dgm:spPr/>
    </dgm:pt>
    <dgm:pt modelId="{86C70331-1FCC-4CC7-B8FB-B1896B7B20D3}" type="pres">
      <dgm:prSet presAssocID="{93BBA6C3-9B7C-4645-9D0B-320311AAFAED}" presName="compNode" presStyleCnt="0"/>
      <dgm:spPr/>
    </dgm:pt>
    <dgm:pt modelId="{0803E693-1E6B-4F15-9E05-8E2E414098E8}" type="pres">
      <dgm:prSet presAssocID="{93BBA6C3-9B7C-4645-9D0B-320311AAFAED}" presName="bgRect" presStyleLbl="bgShp" presStyleIdx="0" presStyleCnt="2"/>
      <dgm:spPr/>
    </dgm:pt>
    <dgm:pt modelId="{29B4B74E-7912-437B-BDF4-2F7A9F519C15}" type="pres">
      <dgm:prSet presAssocID="{93BBA6C3-9B7C-4645-9D0B-320311AAFAE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esentation with Checklist"/>
        </a:ext>
      </dgm:extLst>
    </dgm:pt>
    <dgm:pt modelId="{B6165CBE-9432-4C03-8D8D-423224B6DA12}" type="pres">
      <dgm:prSet presAssocID="{93BBA6C3-9B7C-4645-9D0B-320311AAFAED}" presName="spaceRect" presStyleCnt="0"/>
      <dgm:spPr/>
    </dgm:pt>
    <dgm:pt modelId="{DA018427-5D88-4866-BBD9-ED75CE36F72D}" type="pres">
      <dgm:prSet presAssocID="{93BBA6C3-9B7C-4645-9D0B-320311AAFAED}" presName="parTx" presStyleLbl="revTx" presStyleIdx="0" presStyleCnt="2">
        <dgm:presLayoutVars>
          <dgm:chMax val="0"/>
          <dgm:chPref val="0"/>
        </dgm:presLayoutVars>
      </dgm:prSet>
      <dgm:spPr/>
    </dgm:pt>
    <dgm:pt modelId="{C58DA461-A4EA-4442-811F-7DA7FB8FFFEC}" type="pres">
      <dgm:prSet presAssocID="{0CACF8F6-88A1-4C89-932B-5FC6FE1DC15B}" presName="sibTrans" presStyleCnt="0"/>
      <dgm:spPr/>
    </dgm:pt>
    <dgm:pt modelId="{F4A12765-C251-41EB-9089-056C76000B7A}" type="pres">
      <dgm:prSet presAssocID="{49DCE8A6-F7B0-4BE7-B990-3FAEFAB9CB20}" presName="compNode" presStyleCnt="0"/>
      <dgm:spPr/>
    </dgm:pt>
    <dgm:pt modelId="{5B060B90-2A11-4CCC-813E-97F89179A012}" type="pres">
      <dgm:prSet presAssocID="{49DCE8A6-F7B0-4BE7-B990-3FAEFAB9CB20}" presName="bgRect" presStyleLbl="bgShp" presStyleIdx="1" presStyleCnt="2"/>
      <dgm:spPr/>
    </dgm:pt>
    <dgm:pt modelId="{B2A69C91-6612-423E-89A8-0E9E7A02A945}" type="pres">
      <dgm:prSet presAssocID="{49DCE8A6-F7B0-4BE7-B990-3FAEFAB9CB2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eb Design"/>
        </a:ext>
      </dgm:extLst>
    </dgm:pt>
    <dgm:pt modelId="{CCAF7D93-BC99-423B-B54E-B5F6325EC6AE}" type="pres">
      <dgm:prSet presAssocID="{49DCE8A6-F7B0-4BE7-B990-3FAEFAB9CB20}" presName="spaceRect" presStyleCnt="0"/>
      <dgm:spPr/>
    </dgm:pt>
    <dgm:pt modelId="{06A679D3-0533-492A-B85C-C36747643E0B}" type="pres">
      <dgm:prSet presAssocID="{49DCE8A6-F7B0-4BE7-B990-3FAEFAB9CB20}" presName="parTx" presStyleLbl="revTx" presStyleIdx="1" presStyleCnt="2">
        <dgm:presLayoutVars>
          <dgm:chMax val="0"/>
          <dgm:chPref val="0"/>
        </dgm:presLayoutVars>
      </dgm:prSet>
      <dgm:spPr/>
    </dgm:pt>
  </dgm:ptLst>
  <dgm:cxnLst>
    <dgm:cxn modelId="{FBB32375-3B7D-485E-9D96-6B9C8B0B09A1}" type="presOf" srcId="{B6425BF2-54DF-42E1-A9D9-9C878A1587E1}" destId="{5DEA491B-763B-4AD8-8499-D491E5409023}" srcOrd="0" destOrd="0" presId="urn:microsoft.com/office/officeart/2018/2/layout/IconVerticalSolidList"/>
    <dgm:cxn modelId="{5E136A79-8163-4EB4-9AD0-F8696986EFEB}" type="presOf" srcId="{49DCE8A6-F7B0-4BE7-B990-3FAEFAB9CB20}" destId="{06A679D3-0533-492A-B85C-C36747643E0B}" srcOrd="0" destOrd="0" presId="urn:microsoft.com/office/officeart/2018/2/layout/IconVerticalSolidList"/>
    <dgm:cxn modelId="{74E493B0-6B11-4125-8CB8-E9F649DACDD3}" srcId="{B6425BF2-54DF-42E1-A9D9-9C878A1587E1}" destId="{49DCE8A6-F7B0-4BE7-B990-3FAEFAB9CB20}" srcOrd="1" destOrd="0" parTransId="{9A76AD00-69B3-489E-A0ED-BBEE9843115A}" sibTransId="{874D94B6-3C87-41BE-924F-05381B21AA72}"/>
    <dgm:cxn modelId="{1463FEB9-B094-4009-9B2C-684841843301}" type="presOf" srcId="{93BBA6C3-9B7C-4645-9D0B-320311AAFAED}" destId="{DA018427-5D88-4866-BBD9-ED75CE36F72D}" srcOrd="0" destOrd="0" presId="urn:microsoft.com/office/officeart/2018/2/layout/IconVerticalSolidList"/>
    <dgm:cxn modelId="{186D8CDE-DC8C-44E6-80C7-6212E042B9D2}" srcId="{B6425BF2-54DF-42E1-A9D9-9C878A1587E1}" destId="{93BBA6C3-9B7C-4645-9D0B-320311AAFAED}" srcOrd="0" destOrd="0" parTransId="{A7B7E668-BA58-4BBD-A147-1FF0FC7F3CEC}" sibTransId="{0CACF8F6-88A1-4C89-932B-5FC6FE1DC15B}"/>
    <dgm:cxn modelId="{3911C478-3E90-43E7-8852-A0CFA1531842}" type="presParOf" srcId="{5DEA491B-763B-4AD8-8499-D491E5409023}" destId="{86C70331-1FCC-4CC7-B8FB-B1896B7B20D3}" srcOrd="0" destOrd="0" presId="urn:microsoft.com/office/officeart/2018/2/layout/IconVerticalSolidList"/>
    <dgm:cxn modelId="{3F92C4C5-68F3-45A9-9AD6-9041F4DE2FE9}" type="presParOf" srcId="{86C70331-1FCC-4CC7-B8FB-B1896B7B20D3}" destId="{0803E693-1E6B-4F15-9E05-8E2E414098E8}" srcOrd="0" destOrd="0" presId="urn:microsoft.com/office/officeart/2018/2/layout/IconVerticalSolidList"/>
    <dgm:cxn modelId="{E15C32CB-5588-4967-9C7D-3628BFAD4BA9}" type="presParOf" srcId="{86C70331-1FCC-4CC7-B8FB-B1896B7B20D3}" destId="{29B4B74E-7912-437B-BDF4-2F7A9F519C15}" srcOrd="1" destOrd="0" presId="urn:microsoft.com/office/officeart/2018/2/layout/IconVerticalSolidList"/>
    <dgm:cxn modelId="{0F00BE50-6098-4B29-BC5A-34FBCAD70D6B}" type="presParOf" srcId="{86C70331-1FCC-4CC7-B8FB-B1896B7B20D3}" destId="{B6165CBE-9432-4C03-8D8D-423224B6DA12}" srcOrd="2" destOrd="0" presId="urn:microsoft.com/office/officeart/2018/2/layout/IconVerticalSolidList"/>
    <dgm:cxn modelId="{23B5E6A1-8379-4261-B31C-3CE9266B27C2}" type="presParOf" srcId="{86C70331-1FCC-4CC7-B8FB-B1896B7B20D3}" destId="{DA018427-5D88-4866-BBD9-ED75CE36F72D}" srcOrd="3" destOrd="0" presId="urn:microsoft.com/office/officeart/2018/2/layout/IconVerticalSolidList"/>
    <dgm:cxn modelId="{CBB71590-C27F-4117-BED3-6F33E0049AF1}" type="presParOf" srcId="{5DEA491B-763B-4AD8-8499-D491E5409023}" destId="{C58DA461-A4EA-4442-811F-7DA7FB8FFFEC}" srcOrd="1" destOrd="0" presId="urn:microsoft.com/office/officeart/2018/2/layout/IconVerticalSolidList"/>
    <dgm:cxn modelId="{5DE822A1-EAF2-4EC6-B4AA-76F46AA8E568}" type="presParOf" srcId="{5DEA491B-763B-4AD8-8499-D491E5409023}" destId="{F4A12765-C251-41EB-9089-056C76000B7A}" srcOrd="2" destOrd="0" presId="urn:microsoft.com/office/officeart/2018/2/layout/IconVerticalSolidList"/>
    <dgm:cxn modelId="{B1409A20-E73F-4E49-AAC5-EDC94D5CF9C3}" type="presParOf" srcId="{F4A12765-C251-41EB-9089-056C76000B7A}" destId="{5B060B90-2A11-4CCC-813E-97F89179A012}" srcOrd="0" destOrd="0" presId="urn:microsoft.com/office/officeart/2018/2/layout/IconVerticalSolidList"/>
    <dgm:cxn modelId="{8CC99C32-13E8-4589-92BC-D9B62395D139}" type="presParOf" srcId="{F4A12765-C251-41EB-9089-056C76000B7A}" destId="{B2A69C91-6612-423E-89A8-0E9E7A02A945}" srcOrd="1" destOrd="0" presId="urn:microsoft.com/office/officeart/2018/2/layout/IconVerticalSolidList"/>
    <dgm:cxn modelId="{2A3B7048-F0A6-45A0-88C2-F9E20780BBA1}" type="presParOf" srcId="{F4A12765-C251-41EB-9089-056C76000B7A}" destId="{CCAF7D93-BC99-423B-B54E-B5F6325EC6AE}" srcOrd="2" destOrd="0" presId="urn:microsoft.com/office/officeart/2018/2/layout/IconVerticalSolidList"/>
    <dgm:cxn modelId="{8D8C98EA-38DF-4DE4-9FED-7A4B6A0AD0BF}" type="presParOf" srcId="{F4A12765-C251-41EB-9089-056C76000B7A}" destId="{06A679D3-0533-492A-B85C-C36747643E0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C26F88-5F52-4006-9915-EE8D97D91323}">
      <dsp:nvSpPr>
        <dsp:cNvPr id="0" name=""/>
        <dsp:cNvSpPr/>
      </dsp:nvSpPr>
      <dsp:spPr>
        <a:xfrm>
          <a:off x="0" y="82269"/>
          <a:ext cx="10058399" cy="16571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75ED91-C57E-41A7-A33C-B69C20911586}">
      <dsp:nvSpPr>
        <dsp:cNvPr id="0" name=""/>
        <dsp:cNvSpPr/>
      </dsp:nvSpPr>
      <dsp:spPr>
        <a:xfrm>
          <a:off x="501285" y="455126"/>
          <a:ext cx="911428" cy="9114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838190-2516-460B-A064-DB2680235408}">
      <dsp:nvSpPr>
        <dsp:cNvPr id="0" name=""/>
        <dsp:cNvSpPr/>
      </dsp:nvSpPr>
      <dsp:spPr>
        <a:xfrm>
          <a:off x="1913999" y="82269"/>
          <a:ext cx="8144400" cy="1657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381" tIns="175381" rIns="175381" bIns="175381" numCol="1" spcCol="1270" anchor="ctr" anchorCtr="0">
          <a:noAutofit/>
        </a:bodyPr>
        <a:lstStyle/>
        <a:p>
          <a:pPr marL="0" lvl="0" indent="0" algn="l" defTabSz="622300">
            <a:lnSpc>
              <a:spcPct val="100000"/>
            </a:lnSpc>
            <a:spcBef>
              <a:spcPct val="0"/>
            </a:spcBef>
            <a:spcAft>
              <a:spcPct val="35000"/>
            </a:spcAft>
            <a:buNone/>
          </a:pPr>
          <a:r>
            <a:rPr lang="en-US" sz="1400" kern="1200"/>
            <a:t>Our project builds on existing research by employing advanced machine-learning techniques and new methods for data analysis. While previous work primarily relied on traditional approaches for categorization and estimation, our approach aims to achieve more precise and localized predictions by utilizing cutting-edge models and a comprehensive set of data features. This enhanced methodology will enable us to better identify and understand crime hotspots and trends, ultimately contributing to more effective public safety strategies.</a:t>
          </a:r>
        </a:p>
      </dsp:txBody>
      <dsp:txXfrm>
        <a:off x="1913999" y="82269"/>
        <a:ext cx="8144400" cy="1657142"/>
      </dsp:txXfrm>
    </dsp:sp>
    <dsp:sp modelId="{BA5F8982-8445-470C-B5F1-57D8DC5943F5}">
      <dsp:nvSpPr>
        <dsp:cNvPr id="0" name=""/>
        <dsp:cNvSpPr/>
      </dsp:nvSpPr>
      <dsp:spPr>
        <a:xfrm>
          <a:off x="0" y="2021478"/>
          <a:ext cx="10058399" cy="16571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37E5E1-D833-4A92-A511-5B9AF72A64D5}">
      <dsp:nvSpPr>
        <dsp:cNvPr id="0" name=""/>
        <dsp:cNvSpPr/>
      </dsp:nvSpPr>
      <dsp:spPr>
        <a:xfrm>
          <a:off x="501285" y="2394335"/>
          <a:ext cx="911428" cy="9114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C63563-3653-49C0-971A-65CA6EFE2361}">
      <dsp:nvSpPr>
        <dsp:cNvPr id="0" name=""/>
        <dsp:cNvSpPr/>
      </dsp:nvSpPr>
      <dsp:spPr>
        <a:xfrm>
          <a:off x="1913999" y="2021478"/>
          <a:ext cx="8144400" cy="1657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381" tIns="175381" rIns="175381" bIns="175381" numCol="1" spcCol="1270" anchor="ctr" anchorCtr="0">
          <a:noAutofit/>
        </a:bodyPr>
        <a:lstStyle/>
        <a:p>
          <a:pPr marL="0" lvl="0" indent="0" algn="l" defTabSz="622300">
            <a:lnSpc>
              <a:spcPct val="100000"/>
            </a:lnSpc>
            <a:spcBef>
              <a:spcPct val="0"/>
            </a:spcBef>
            <a:spcAft>
              <a:spcPct val="35000"/>
            </a:spcAft>
            <a:buNone/>
          </a:pPr>
          <a:r>
            <a:rPr lang="en-US" sz="1400" kern="1200"/>
            <a:t>We integrate both spatial and temporal data to improve prediction accuracy, distinguishing our approach from conventional methods. Additionally, by incorporating attributes such as community areas and law enforcement units, we provide a richer analysis that enhances our understanding of crime dynamics and informs targeted interventions.</a:t>
          </a:r>
        </a:p>
      </dsp:txBody>
      <dsp:txXfrm>
        <a:off x="1913999" y="2021478"/>
        <a:ext cx="8144400" cy="16571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3A587A-A73B-487B-B919-41234F9A89E1}">
      <dsp:nvSpPr>
        <dsp:cNvPr id="0" name=""/>
        <dsp:cNvSpPr/>
      </dsp:nvSpPr>
      <dsp:spPr>
        <a:xfrm>
          <a:off x="127478" y="3160"/>
          <a:ext cx="2907506" cy="1744503"/>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Violent Crimes:</a:t>
          </a:r>
          <a:r>
            <a:rPr lang="en-US" sz="2400" kern="1200"/>
            <a:t> Assault, homicide, battery</a:t>
          </a:r>
        </a:p>
      </dsp:txBody>
      <dsp:txXfrm>
        <a:off x="127478" y="3160"/>
        <a:ext cx="2907506" cy="1744503"/>
      </dsp:txXfrm>
    </dsp:sp>
    <dsp:sp modelId="{87796980-D32E-4FBA-9D42-77EE604E6D70}">
      <dsp:nvSpPr>
        <dsp:cNvPr id="0" name=""/>
        <dsp:cNvSpPr/>
      </dsp:nvSpPr>
      <dsp:spPr>
        <a:xfrm>
          <a:off x="3325735" y="3160"/>
          <a:ext cx="2907506" cy="1744503"/>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Property Crimes:</a:t>
          </a:r>
          <a:r>
            <a:rPr lang="en-US" sz="2400" kern="1200"/>
            <a:t> Burglary, robbery, motor vehicle theft</a:t>
          </a:r>
        </a:p>
      </dsp:txBody>
      <dsp:txXfrm>
        <a:off x="3325735" y="3160"/>
        <a:ext cx="2907506" cy="1744503"/>
      </dsp:txXfrm>
    </dsp:sp>
    <dsp:sp modelId="{9FC2B9A4-A066-4B10-8451-C6AC76204AC5}">
      <dsp:nvSpPr>
        <dsp:cNvPr id="0" name=""/>
        <dsp:cNvSpPr/>
      </dsp:nvSpPr>
      <dsp:spPr>
        <a:xfrm>
          <a:off x="6523992" y="3160"/>
          <a:ext cx="3406928" cy="1744503"/>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Drug-Related Crimes:</a:t>
          </a:r>
          <a:r>
            <a:rPr lang="en-US" sz="2400" kern="1200"/>
            <a:t> Drug possession, distribution, trafficking</a:t>
          </a:r>
        </a:p>
      </dsp:txBody>
      <dsp:txXfrm>
        <a:off x="6523992" y="3160"/>
        <a:ext cx="3406928" cy="1744503"/>
      </dsp:txXfrm>
    </dsp:sp>
    <dsp:sp modelId="{DD25B075-8EC5-4D9D-B8B3-EBDF42515A63}">
      <dsp:nvSpPr>
        <dsp:cNvPr id="0" name=""/>
        <dsp:cNvSpPr/>
      </dsp:nvSpPr>
      <dsp:spPr>
        <a:xfrm>
          <a:off x="1976318" y="2038415"/>
          <a:ext cx="2907506" cy="1744503"/>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Public Order Crimes:</a:t>
          </a:r>
          <a:r>
            <a:rPr lang="en-US" sz="2400" kern="1200"/>
            <a:t> Disorderly conduct, public intoxication</a:t>
          </a:r>
        </a:p>
      </dsp:txBody>
      <dsp:txXfrm>
        <a:off x="1976318" y="2038415"/>
        <a:ext cx="2907506" cy="1744503"/>
      </dsp:txXfrm>
    </dsp:sp>
    <dsp:sp modelId="{3E62A9B8-66EA-4C1D-8D71-B575F6236E24}">
      <dsp:nvSpPr>
        <dsp:cNvPr id="0" name=""/>
        <dsp:cNvSpPr/>
      </dsp:nvSpPr>
      <dsp:spPr>
        <a:xfrm>
          <a:off x="5174575" y="2038415"/>
          <a:ext cx="2907506" cy="1744503"/>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Other Crimes:</a:t>
          </a:r>
          <a:r>
            <a:rPr lang="en-US" sz="2400" kern="1200"/>
            <a:t> Miscellaneous categories</a:t>
          </a:r>
        </a:p>
      </dsp:txBody>
      <dsp:txXfrm>
        <a:off x="5174575" y="2038415"/>
        <a:ext cx="2907506" cy="17445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03E693-1E6B-4F15-9E05-8E2E414098E8}">
      <dsp:nvSpPr>
        <dsp:cNvPr id="0" name=""/>
        <dsp:cNvSpPr/>
      </dsp:nvSpPr>
      <dsp:spPr>
        <a:xfrm>
          <a:off x="0" y="611144"/>
          <a:ext cx="10058399" cy="11282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B4B74E-7912-437B-BDF4-2F7A9F519C15}">
      <dsp:nvSpPr>
        <dsp:cNvPr id="0" name=""/>
        <dsp:cNvSpPr/>
      </dsp:nvSpPr>
      <dsp:spPr>
        <a:xfrm>
          <a:off x="341300" y="865004"/>
          <a:ext cx="620547" cy="6205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018427-5D88-4866-BBD9-ED75CE36F72D}">
      <dsp:nvSpPr>
        <dsp:cNvPr id="0" name=""/>
        <dsp:cNvSpPr/>
      </dsp:nvSpPr>
      <dsp:spPr>
        <a:xfrm>
          <a:off x="1303148" y="611144"/>
          <a:ext cx="8755251" cy="1128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408" tIns="119408" rIns="119408" bIns="119408" numCol="1" spcCol="1270" anchor="ctr" anchorCtr="0">
          <a:noAutofit/>
        </a:bodyPr>
        <a:lstStyle/>
        <a:p>
          <a:pPr marL="0" lvl="0" indent="0" algn="l" defTabSz="1066800">
            <a:lnSpc>
              <a:spcPct val="100000"/>
            </a:lnSpc>
            <a:spcBef>
              <a:spcPct val="0"/>
            </a:spcBef>
            <a:spcAft>
              <a:spcPct val="35000"/>
            </a:spcAft>
            <a:buNone/>
          </a:pPr>
          <a:r>
            <a:rPr lang="en-US" sz="2400" kern="1200"/>
            <a:t>Since the ADF test indicated non-stationarity, we will consider differencing the data further to achieve stationarity.</a:t>
          </a:r>
        </a:p>
      </dsp:txBody>
      <dsp:txXfrm>
        <a:off x="1303148" y="611144"/>
        <a:ext cx="8755251" cy="1128267"/>
      </dsp:txXfrm>
    </dsp:sp>
    <dsp:sp modelId="{5B060B90-2A11-4CCC-813E-97F89179A012}">
      <dsp:nvSpPr>
        <dsp:cNvPr id="0" name=""/>
        <dsp:cNvSpPr/>
      </dsp:nvSpPr>
      <dsp:spPr>
        <a:xfrm>
          <a:off x="0" y="2021478"/>
          <a:ext cx="10058399" cy="11282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A69C91-6612-423E-89A8-0E9E7A02A945}">
      <dsp:nvSpPr>
        <dsp:cNvPr id="0" name=""/>
        <dsp:cNvSpPr/>
      </dsp:nvSpPr>
      <dsp:spPr>
        <a:xfrm>
          <a:off x="341300" y="2275339"/>
          <a:ext cx="620547" cy="6205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A679D3-0533-492A-B85C-C36747643E0B}">
      <dsp:nvSpPr>
        <dsp:cNvPr id="0" name=""/>
        <dsp:cNvSpPr/>
      </dsp:nvSpPr>
      <dsp:spPr>
        <a:xfrm>
          <a:off x="1303148" y="2021478"/>
          <a:ext cx="8755251" cy="1128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408" tIns="119408" rIns="119408" bIns="119408" numCol="1" spcCol="1270" anchor="ctr" anchorCtr="0">
          <a:noAutofit/>
        </a:bodyPr>
        <a:lstStyle/>
        <a:p>
          <a:pPr marL="0" lvl="0" indent="0" algn="l" defTabSz="1066800">
            <a:lnSpc>
              <a:spcPct val="100000"/>
            </a:lnSpc>
            <a:spcBef>
              <a:spcPct val="0"/>
            </a:spcBef>
            <a:spcAft>
              <a:spcPct val="35000"/>
            </a:spcAft>
            <a:buNone/>
          </a:pPr>
          <a:r>
            <a:rPr lang="en-US" sz="2400" kern="1200"/>
            <a:t>Use techniques like grid search or automated tools (like pmdarima) to find the best parameters.</a:t>
          </a:r>
        </a:p>
      </dsp:txBody>
      <dsp:txXfrm>
        <a:off x="1303148" y="2021478"/>
        <a:ext cx="8755251" cy="112826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8EBA90-6346-461A-9C76-8C65845B1C59}" type="datetimeFigureOut">
              <a:rPr lang="en-US" smtClean="0"/>
              <a:t>10/22/2024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0F6939-699C-4445-8D5C-CA17BDCFC0E5}" type="slidenum">
              <a:rPr lang="en-US" smtClean="0"/>
              <a:t>‹#›</a:t>
            </a:fld>
            <a:endParaRPr lang="en-US"/>
          </a:p>
        </p:txBody>
      </p:sp>
    </p:spTree>
    <p:extLst>
      <p:ext uri="{BB962C8B-B14F-4D97-AF65-F5344CB8AC3E}">
        <p14:creationId xmlns:p14="http://schemas.microsoft.com/office/powerpoint/2010/main" val="2467428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BFCECACC-135F-4CB5-984F-BA8DE5185FB1}" type="datetime1">
              <a:rPr lang="en-US" smtClean="0"/>
              <a:t>10/22/2024</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0215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2129BF27-1466-4CF0-BF37-546080F0EF52}" type="datetime1">
              <a:rPr lang="en-US" smtClean="0"/>
              <a:t>10/22/2024</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6499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88FC450A-43F8-4E91-8F85-8673A64F6F62}" type="datetime1">
              <a:rPr lang="en-US" smtClean="0"/>
              <a:t>10/22/2024</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37889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5D1F4014-6219-479C-A26C-C3BAC2F84CEC}" type="datetime1">
              <a:rPr lang="en-US" smtClean="0"/>
              <a:t>10/22/2024</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63759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86E0AA4E-C634-4F8A-BC43-0A0F005313DE}" type="datetime1">
              <a:rPr lang="en-US" smtClean="0"/>
              <a:t>10/22/2024</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66236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A790CCA0-5099-4830-80C6-4DF6780DD1F1}" type="datetime1">
              <a:rPr lang="en-US" smtClean="0"/>
              <a:t>10/22/2024</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2743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A9E39B99-1B11-4676-9A00-3B6E6FB9EF8D}" type="datetime1">
              <a:rPr lang="en-US" smtClean="0"/>
              <a:t>10/22/2024</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68778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59300E55-CFE2-4F4E-A13E-19F0C19F41ED}" type="datetime1">
              <a:rPr lang="en-US" smtClean="0"/>
              <a:t>10/22/2024</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49802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09E12E65-8464-488E-9ABC-7AF6C58E1AA3}" type="datetime1">
              <a:rPr lang="en-US" smtClean="0"/>
              <a:t>10/22/2024</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81294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C906768-387F-411A-88CC-0F56771EE657}" type="datetime1">
              <a:rPr lang="en-US" smtClean="0"/>
              <a:t>10/22/2024</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7481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19632C54-A0C4-4E1A-9A4C-9ECAF8F26210}" type="datetime1">
              <a:rPr lang="en-US" smtClean="0"/>
              <a:t>10/22/2024</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48368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5D369A1A-2BBC-446A-AE2D-A01DD611AFEA}" type="datetime1">
              <a:rPr lang="en-US" smtClean="0"/>
              <a:t>10/22/2024</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318424"/>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hdr="0" ftr="0" dt="0"/>
  <p:txStyles>
    <p:titleStyle>
      <a:lvl1pPr algn="l" defTabSz="914400" rtl="0" eaLnBrk="1" latinLnBrk="0" hangingPunct="1">
        <a:lnSpc>
          <a:spcPct val="90000"/>
        </a:lnSpc>
        <a:spcBef>
          <a:spcPct val="0"/>
        </a:spcBef>
        <a:buNone/>
        <a:defRPr sz="47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ChandanaAnugu/Capstone.git"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ata.cityofchicago.org/Public-Safety/Crimes-2001-to-Present/ijzp-q8t2/about_dat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648593"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Title 4">
            <a:extLst>
              <a:ext uri="{FF2B5EF4-FFF2-40B4-BE49-F238E27FC236}">
                <a16:creationId xmlns:a16="http://schemas.microsoft.com/office/drawing/2014/main" id="{7B5F9D0B-82E7-B5CA-71FF-283072AF009A}"/>
              </a:ext>
            </a:extLst>
          </p:cNvPr>
          <p:cNvSpPr>
            <a:spLocks noGrp="1"/>
          </p:cNvSpPr>
          <p:nvPr>
            <p:ph type="title"/>
          </p:nvPr>
        </p:nvSpPr>
        <p:spPr>
          <a:xfrm>
            <a:off x="344367" y="529696"/>
            <a:ext cx="2752793" cy="5646208"/>
          </a:xfrm>
        </p:spPr>
        <p:txBody>
          <a:bodyPr anchor="ctr">
            <a:normAutofit/>
          </a:bodyPr>
          <a:lstStyle/>
          <a:p>
            <a:r>
              <a:rPr lang="en-US" sz="4400" b="1" dirty="0">
                <a:solidFill>
                  <a:srgbClr val="FFFFFF"/>
                </a:solidFill>
                <a:latin typeface="Times New Roman" panose="02020603050405020304" pitchFamily="18" charset="0"/>
                <a:cs typeface="Times New Roman" panose="02020603050405020304" pitchFamily="18" charset="0"/>
              </a:rPr>
              <a:t>From Data to Safety: Predicting Crime Hotspots and Trends</a:t>
            </a:r>
            <a:br>
              <a:rPr lang="en-US" sz="4400" b="1" dirty="0">
                <a:solidFill>
                  <a:srgbClr val="FFFFFF"/>
                </a:solidFill>
                <a:latin typeface="Times New Roman" panose="02020603050405020304" pitchFamily="18" charset="0"/>
                <a:cs typeface="Times New Roman" panose="02020603050405020304" pitchFamily="18" charset="0"/>
              </a:rPr>
            </a:br>
            <a:endParaRPr lang="en-US" sz="4400" dirty="0">
              <a:solidFill>
                <a:srgbClr val="FFFFFF"/>
              </a:solidFill>
            </a:endParaRPr>
          </a:p>
        </p:txBody>
      </p:sp>
      <p:sp>
        <p:nvSpPr>
          <p:cNvPr id="3" name="Content Placeholder 2">
            <a:extLst>
              <a:ext uri="{FF2B5EF4-FFF2-40B4-BE49-F238E27FC236}">
                <a16:creationId xmlns:a16="http://schemas.microsoft.com/office/drawing/2014/main" id="{596800D8-A92B-26C8-E87D-F9AF08D64185}"/>
              </a:ext>
            </a:extLst>
          </p:cNvPr>
          <p:cNvSpPr>
            <a:spLocks noGrp="1"/>
          </p:cNvSpPr>
          <p:nvPr>
            <p:ph idx="1"/>
          </p:nvPr>
        </p:nvSpPr>
        <p:spPr>
          <a:xfrm>
            <a:off x="5373681" y="1331843"/>
            <a:ext cx="5492363" cy="3568148"/>
          </a:xfrm>
        </p:spPr>
        <p:txBody>
          <a:bodyPr anchor="ctr">
            <a:normAutofit/>
          </a:bodyPr>
          <a:lstStyle/>
          <a:p>
            <a:r>
              <a:rPr lang="en-US" b="1" dirty="0">
                <a:latin typeface="Times New Roman" panose="02020603050405020304" pitchFamily="18" charset="0"/>
                <a:cs typeface="Times New Roman" panose="02020603050405020304" pitchFamily="18" charset="0"/>
              </a:rPr>
              <a:t>TEAM E : </a:t>
            </a:r>
          </a:p>
          <a:p>
            <a:r>
              <a:rPr lang="en-US" dirty="0">
                <a:latin typeface="Times New Roman" panose="02020603050405020304" pitchFamily="18" charset="0"/>
                <a:cs typeface="Times New Roman" panose="02020603050405020304" pitchFamily="18" charset="0"/>
              </a:rPr>
              <a:t>Chandana Anugu</a:t>
            </a:r>
          </a:p>
          <a:p>
            <a:r>
              <a:rPr lang="en-US" dirty="0">
                <a:latin typeface="Times New Roman" panose="02020603050405020304" pitchFamily="18" charset="0"/>
                <a:cs typeface="Times New Roman" panose="02020603050405020304" pitchFamily="18" charset="0"/>
              </a:rPr>
              <a:t>Sai Sindhu </a:t>
            </a:r>
            <a:r>
              <a:rPr lang="en-US" dirty="0" err="1">
                <a:latin typeface="Times New Roman" panose="02020603050405020304" pitchFamily="18" charset="0"/>
                <a:cs typeface="Times New Roman" panose="02020603050405020304" pitchFamily="18" charset="0"/>
              </a:rPr>
              <a:t>Beeravolu</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Viquarath</a:t>
            </a:r>
            <a:r>
              <a:rPr lang="en-US" dirty="0">
                <a:latin typeface="Times New Roman" panose="02020603050405020304" pitchFamily="18" charset="0"/>
                <a:cs typeface="Times New Roman" panose="02020603050405020304" pitchFamily="18" charset="0"/>
              </a:rPr>
              <a:t> Ali Khaja</a:t>
            </a:r>
          </a:p>
          <a:p>
            <a:r>
              <a:rPr lang="en-US" b="1" dirty="0">
                <a:latin typeface="Times New Roman" panose="02020603050405020304" pitchFamily="18" charset="0"/>
                <a:cs typeface="Times New Roman" panose="02020603050405020304" pitchFamily="18" charset="0"/>
              </a:rPr>
              <a:t>GitHub Page: </a:t>
            </a:r>
            <a:r>
              <a:rPr lang="en-US" dirty="0">
                <a:latin typeface="Times New Roman" panose="02020603050405020304" pitchFamily="18" charset="0"/>
                <a:cs typeface="Times New Roman" panose="02020603050405020304" pitchFamily="18" charset="0"/>
                <a:hlinkClick r:id="rId2"/>
              </a:rPr>
              <a:t>https://github.com/ChandanaAnugu/Capstone.git</a:t>
            </a:r>
            <a:endParaRPr lang="en-US"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4DD4EFB0-A655-57FD-DAEC-DB3752C1CB70}"/>
              </a:ext>
            </a:extLst>
          </p:cNvPr>
          <p:cNvSpPr>
            <a:spLocks noGrp="1"/>
          </p:cNvSpPr>
          <p:nvPr>
            <p:ph type="sldNum" sz="quarter" idx="12"/>
          </p:nvPr>
        </p:nvSpPr>
        <p:spPr/>
        <p:txBody>
          <a:bodyPr/>
          <a:lstStyle/>
          <a:p>
            <a:fld id="{3A98EE3D-8CD1-4C3F-BD1C-C98C9596463C}" type="slidenum">
              <a:rPr lang="en-US" smtClean="0"/>
              <a:t>1</a:t>
            </a:fld>
            <a:endParaRPr lang="en-US" dirty="0"/>
          </a:p>
        </p:txBody>
      </p:sp>
    </p:spTree>
    <p:extLst>
      <p:ext uri="{BB962C8B-B14F-4D97-AF65-F5344CB8AC3E}">
        <p14:creationId xmlns:p14="http://schemas.microsoft.com/office/powerpoint/2010/main" val="4258220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422D6-598B-B06B-F11C-8FFDF59DDB53}"/>
              </a:ext>
            </a:extLst>
          </p:cNvPr>
          <p:cNvSpPr>
            <a:spLocks noGrp="1"/>
          </p:cNvSpPr>
          <p:nvPr>
            <p:ph type="title"/>
          </p:nvPr>
        </p:nvSpPr>
        <p:spPr>
          <a:xfrm>
            <a:off x="675912" y="0"/>
            <a:ext cx="8662946" cy="1015423"/>
          </a:xfrm>
          <a:noFill/>
        </p:spPr>
        <p:txBody>
          <a:bodyPr/>
          <a:lstStyle/>
          <a:p>
            <a:r>
              <a:rPr lang="en-IN" dirty="0"/>
              <a:t>Snapshot of GitHub Page</a:t>
            </a:r>
          </a:p>
        </p:txBody>
      </p:sp>
      <p:pic>
        <p:nvPicPr>
          <p:cNvPr id="6" name="Content Placeholder 5">
            <a:extLst>
              <a:ext uri="{FF2B5EF4-FFF2-40B4-BE49-F238E27FC236}">
                <a16:creationId xmlns:a16="http://schemas.microsoft.com/office/drawing/2014/main" id="{34A9470A-4B6A-7077-D404-3256CCC816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5912" y="1186804"/>
            <a:ext cx="10840176" cy="5159262"/>
          </a:xfrm>
        </p:spPr>
      </p:pic>
      <p:sp>
        <p:nvSpPr>
          <p:cNvPr id="4" name="Slide Number Placeholder 3">
            <a:extLst>
              <a:ext uri="{FF2B5EF4-FFF2-40B4-BE49-F238E27FC236}">
                <a16:creationId xmlns:a16="http://schemas.microsoft.com/office/drawing/2014/main" id="{E2B298F5-C80C-1A7E-CE71-DB8B03F13B46}"/>
              </a:ext>
            </a:extLst>
          </p:cNvPr>
          <p:cNvSpPr>
            <a:spLocks noGrp="1"/>
          </p:cNvSpPr>
          <p:nvPr>
            <p:ph type="sldNum" sz="quarter" idx="12"/>
          </p:nvPr>
        </p:nvSpPr>
        <p:spPr/>
        <p:txBody>
          <a:bodyPr/>
          <a:lstStyle/>
          <a:p>
            <a:fld id="{3A98EE3D-8CD1-4C3F-BD1C-C98C9596463C}" type="slidenum">
              <a:rPr lang="en-US" smtClean="0"/>
              <a:t>2</a:t>
            </a:fld>
            <a:endParaRPr lang="en-US" dirty="0"/>
          </a:p>
        </p:txBody>
      </p:sp>
    </p:spTree>
    <p:extLst>
      <p:ext uri="{BB962C8B-B14F-4D97-AF65-F5344CB8AC3E}">
        <p14:creationId xmlns:p14="http://schemas.microsoft.com/office/powerpoint/2010/main" val="2768454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0E58038-8ACE-4AD9-B404-25C603550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financial graph">
            <a:extLst>
              <a:ext uri="{FF2B5EF4-FFF2-40B4-BE49-F238E27FC236}">
                <a16:creationId xmlns:a16="http://schemas.microsoft.com/office/drawing/2014/main" id="{B95A5534-A7DA-650D-B01D-C9A6B418F70C}"/>
              </a:ext>
            </a:extLst>
          </p:cNvPr>
          <p:cNvPicPr>
            <a:picLocks noChangeAspect="1"/>
          </p:cNvPicPr>
          <p:nvPr/>
        </p:nvPicPr>
        <p:blipFill>
          <a:blip r:embed="rId2">
            <a:alphaModFix amt="35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0F88912-137C-2450-992B-CCB81C0CACBF}"/>
              </a:ext>
            </a:extLst>
          </p:cNvPr>
          <p:cNvSpPr>
            <a:spLocks noGrp="1"/>
          </p:cNvSpPr>
          <p:nvPr>
            <p:ph type="title"/>
          </p:nvPr>
        </p:nvSpPr>
        <p:spPr>
          <a:xfrm>
            <a:off x="1097280" y="286603"/>
            <a:ext cx="10058400" cy="1450757"/>
          </a:xfrm>
        </p:spPr>
        <p:txBody>
          <a:bodyPr>
            <a:normAutofit/>
          </a:bodyPr>
          <a:lstStyle/>
          <a:p>
            <a:r>
              <a:rPr lang="en-US">
                <a:latin typeface="Times New Roman" panose="02020603050405020304" pitchFamily="18" charset="0"/>
                <a:cs typeface="Times New Roman" panose="02020603050405020304" pitchFamily="18" charset="0"/>
              </a:rPr>
              <a:t>INTRODUCTION</a:t>
            </a:r>
          </a:p>
        </p:txBody>
      </p:sp>
      <p:cxnSp>
        <p:nvCxnSpPr>
          <p:cNvPr id="20" name="Straight Connector 19">
            <a:extLst>
              <a:ext uri="{FF2B5EF4-FFF2-40B4-BE49-F238E27FC236}">
                <a16:creationId xmlns:a16="http://schemas.microsoft.com/office/drawing/2014/main" id="{38A34772-9011-42B5-AA63-FD6DEC92EE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910746"/>
            <a:ext cx="996696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5C59AEA-B849-B64A-018E-CE273AED6107}"/>
              </a:ext>
            </a:extLst>
          </p:cNvPr>
          <p:cNvSpPr>
            <a:spLocks noGrp="1"/>
          </p:cNvSpPr>
          <p:nvPr>
            <p:ph idx="1"/>
          </p:nvPr>
        </p:nvSpPr>
        <p:spPr>
          <a:xfrm>
            <a:off x="1097280" y="2108201"/>
            <a:ext cx="10058400" cy="3760891"/>
          </a:xfrm>
        </p:spPr>
        <p:txBody>
          <a:bodyPr>
            <a:normAutofit/>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project focuses on using machine learning and data analytics to predict crime occurrences, leveraging historical crime data to identify patterns and trends. By analyzing the data, we aim to forecast where and when crimes are likely to occur, providing valuable insights to help law enforcement agencies allocate resources more effectively. Using techniques like prediction, and trend analysis, the project seeks to enhance decision-making and contribute to safer communities through data-driven strategies for crime prevention and management.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sp>
        <p:nvSpPr>
          <p:cNvPr id="22" name="Rectangle 21">
            <a:extLst>
              <a:ext uri="{FF2B5EF4-FFF2-40B4-BE49-F238E27FC236}">
                <a16:creationId xmlns:a16="http://schemas.microsoft.com/office/drawing/2014/main" id="{82BCDE19-2810-4337-9C49-8589C42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816FEFE5-26C3-664B-39E5-91B38E83A957}"/>
              </a:ext>
            </a:extLst>
          </p:cNvPr>
          <p:cNvSpPr>
            <a:spLocks noGrp="1"/>
          </p:cNvSpPr>
          <p:nvPr>
            <p:ph type="sldNum" sz="quarter" idx="12"/>
          </p:nvPr>
        </p:nvSpPr>
        <p:spPr/>
        <p:txBody>
          <a:bodyPr/>
          <a:lstStyle/>
          <a:p>
            <a:fld id="{3A98EE3D-8CD1-4C3F-BD1C-C98C9596463C}" type="slidenum">
              <a:rPr lang="en-US" smtClean="0"/>
              <a:t>3</a:t>
            </a:fld>
            <a:endParaRPr lang="en-US" dirty="0"/>
          </a:p>
        </p:txBody>
      </p:sp>
    </p:spTree>
    <p:extLst>
      <p:ext uri="{BB962C8B-B14F-4D97-AF65-F5344CB8AC3E}">
        <p14:creationId xmlns:p14="http://schemas.microsoft.com/office/powerpoint/2010/main" val="993756532"/>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648593"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5F2EB62-44A6-63EF-6FAF-86142D9059F6}"/>
              </a:ext>
            </a:extLst>
          </p:cNvPr>
          <p:cNvSpPr>
            <a:spLocks noGrp="1"/>
          </p:cNvSpPr>
          <p:nvPr>
            <p:ph type="title"/>
          </p:nvPr>
        </p:nvSpPr>
        <p:spPr>
          <a:xfrm>
            <a:off x="492369" y="605896"/>
            <a:ext cx="3642309" cy="5646208"/>
          </a:xfrm>
        </p:spPr>
        <p:txBody>
          <a:bodyPr anchor="ctr">
            <a:normAutofit/>
          </a:bodyPr>
          <a:lstStyle/>
          <a:p>
            <a:r>
              <a:rPr lang="en-US" sz="4400">
                <a:solidFill>
                  <a:srgbClr val="FFFFFF"/>
                </a:solidFill>
                <a:latin typeface="Times New Roman" panose="02020603050405020304" pitchFamily="18" charset="0"/>
                <a:cs typeface="Times New Roman" panose="02020603050405020304" pitchFamily="18" charset="0"/>
              </a:rPr>
              <a:t>Dataset</a:t>
            </a:r>
          </a:p>
        </p:txBody>
      </p:sp>
      <p:sp>
        <p:nvSpPr>
          <p:cNvPr id="3" name="Content Placeholder 2">
            <a:extLst>
              <a:ext uri="{FF2B5EF4-FFF2-40B4-BE49-F238E27FC236}">
                <a16:creationId xmlns:a16="http://schemas.microsoft.com/office/drawing/2014/main" id="{DCEC797D-AA9D-245F-D033-D8A2F154A424}"/>
              </a:ext>
            </a:extLst>
          </p:cNvPr>
          <p:cNvSpPr>
            <a:spLocks noGrp="1"/>
          </p:cNvSpPr>
          <p:nvPr>
            <p:ph idx="1"/>
          </p:nvPr>
        </p:nvSpPr>
        <p:spPr>
          <a:xfrm>
            <a:off x="5253991" y="1057587"/>
            <a:ext cx="5923721" cy="5646208"/>
          </a:xfrm>
        </p:spPr>
        <p:txBody>
          <a:bodyPr anchor="ctr">
            <a:normAutofit/>
          </a:bodyPr>
          <a:lstStyle/>
          <a:p>
            <a:pPr>
              <a:lnSpc>
                <a:spcPct val="100000"/>
              </a:lnSpc>
            </a:pPr>
            <a:r>
              <a:rPr lang="en-US" b="1" dirty="0">
                <a:latin typeface="Times New Roman" panose="02020603050405020304" pitchFamily="18" charset="0"/>
                <a:cs typeface="Times New Roman" panose="02020603050405020304" pitchFamily="18" charset="0"/>
              </a:rPr>
              <a:t>Link to Dataset:</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2"/>
              </a:rPr>
              <a:t>https://data.cityofchicago.org/Public-Safety/Crimes-2001-to-Present/ijzp-q8t2/about_data</a:t>
            </a:r>
            <a:endParaRPr lang="en-US" dirty="0">
              <a:latin typeface="Times New Roman" panose="02020603050405020304" pitchFamily="18" charset="0"/>
              <a:cs typeface="Times New Roman" panose="02020603050405020304" pitchFamily="18" charset="0"/>
            </a:endParaRPr>
          </a:p>
          <a:p>
            <a:pPr>
              <a:lnSpc>
                <a:spcPct val="100000"/>
              </a:lnSpc>
            </a:pPr>
            <a:r>
              <a:rPr lang="en-US" b="1" dirty="0">
                <a:latin typeface="Times New Roman" panose="02020603050405020304" pitchFamily="18" charset="0"/>
                <a:cs typeface="Times New Roman" panose="02020603050405020304" pitchFamily="18" charset="0"/>
              </a:rPr>
              <a:t>Source: </a:t>
            </a:r>
            <a:r>
              <a:rPr lang="en-US" dirty="0">
                <a:latin typeface="Times New Roman" panose="02020603050405020304" pitchFamily="18" charset="0"/>
                <a:cs typeface="Times New Roman" panose="02020603050405020304" pitchFamily="18" charset="0"/>
              </a:rPr>
              <a:t>Chicago Data Portal</a:t>
            </a:r>
          </a:p>
          <a:p>
            <a:pPr>
              <a:lnSpc>
                <a:spcPct val="100000"/>
              </a:lnSpc>
            </a:pPr>
            <a:r>
              <a:rPr lang="en-US" b="1" dirty="0">
                <a:latin typeface="Times New Roman" panose="02020603050405020304" pitchFamily="18" charset="0"/>
                <a:cs typeface="Times New Roman" panose="02020603050405020304" pitchFamily="18" charset="0"/>
              </a:rPr>
              <a:t>Size:</a:t>
            </a:r>
            <a:r>
              <a:rPr lang="en-US" dirty="0">
                <a:latin typeface="Times New Roman" panose="02020603050405020304" pitchFamily="18" charset="0"/>
                <a:cs typeface="Times New Roman" panose="02020603050405020304" pitchFamily="18" charset="0"/>
              </a:rPr>
              <a:t> Over 6 million rows, dating back to 2001.</a:t>
            </a:r>
          </a:p>
          <a:p>
            <a:pPr>
              <a:lnSpc>
                <a:spcPct val="100000"/>
              </a:lnSpc>
            </a:pPr>
            <a:r>
              <a:rPr lang="en-US" b="1" dirty="0">
                <a:latin typeface="Times New Roman" panose="02020603050405020304" pitchFamily="18" charset="0"/>
                <a:cs typeface="Times New Roman" panose="02020603050405020304" pitchFamily="18" charset="0"/>
              </a:rPr>
              <a:t>Key Attributes:</a:t>
            </a:r>
            <a:endParaRPr lang="en-US" dirty="0">
              <a:latin typeface="Times New Roman" panose="02020603050405020304" pitchFamily="18" charset="0"/>
              <a:cs typeface="Times New Roman" panose="02020603050405020304" pitchFamily="18" charset="0"/>
            </a:endParaRPr>
          </a:p>
          <a:p>
            <a:pPr marL="742950" lvl="1" indent="-285750">
              <a:lnSpc>
                <a:spcPct val="100000"/>
              </a:lnSpc>
            </a:pPr>
            <a:r>
              <a:rPr lang="en-US" sz="2000" dirty="0">
                <a:latin typeface="Times New Roman" panose="02020603050405020304" pitchFamily="18" charset="0"/>
                <a:cs typeface="Times New Roman" panose="02020603050405020304" pitchFamily="18" charset="0"/>
              </a:rPr>
              <a:t>Date of crime occurrence</a:t>
            </a:r>
          </a:p>
          <a:p>
            <a:pPr marL="742950" lvl="1" indent="-285750">
              <a:lnSpc>
                <a:spcPct val="100000"/>
              </a:lnSpc>
            </a:pPr>
            <a:r>
              <a:rPr lang="en-US" sz="2000" dirty="0">
                <a:latin typeface="Times New Roman" panose="02020603050405020304" pitchFamily="18" charset="0"/>
                <a:cs typeface="Times New Roman" panose="02020603050405020304" pitchFamily="18" charset="0"/>
              </a:rPr>
              <a:t>Primary Type (e.g., theft, assault, burglary)</a:t>
            </a:r>
          </a:p>
          <a:p>
            <a:pPr marL="742950" lvl="1" indent="-285750">
              <a:lnSpc>
                <a:spcPct val="100000"/>
              </a:lnSpc>
            </a:pPr>
            <a:r>
              <a:rPr lang="en-US" sz="2000" dirty="0">
                <a:latin typeface="Times New Roman" panose="02020603050405020304" pitchFamily="18" charset="0"/>
                <a:cs typeface="Times New Roman" panose="02020603050405020304" pitchFamily="18" charset="0"/>
              </a:rPr>
              <a:t>Location Description</a:t>
            </a:r>
          </a:p>
          <a:p>
            <a:pPr marL="742950" lvl="1" indent="-285750">
              <a:lnSpc>
                <a:spcPct val="100000"/>
              </a:lnSpc>
            </a:pPr>
            <a:r>
              <a:rPr lang="en-US" sz="2000" dirty="0">
                <a:latin typeface="Times New Roman" panose="02020603050405020304" pitchFamily="18" charset="0"/>
                <a:cs typeface="Times New Roman" panose="02020603050405020304" pitchFamily="18" charset="0"/>
              </a:rPr>
              <a:t>Arrest (Yes/No)</a:t>
            </a:r>
          </a:p>
          <a:p>
            <a:pPr marL="742950" lvl="1" indent="-285750">
              <a:lnSpc>
                <a:spcPct val="100000"/>
              </a:lnSpc>
            </a:pPr>
            <a:r>
              <a:rPr lang="en-US" sz="2000" dirty="0">
                <a:latin typeface="Times New Roman" panose="02020603050405020304" pitchFamily="18" charset="0"/>
                <a:cs typeface="Times New Roman" panose="02020603050405020304" pitchFamily="18" charset="0"/>
              </a:rPr>
              <a:t>Community Area</a:t>
            </a:r>
            <a:endParaRPr lang="en-US" sz="2000" b="1" dirty="0">
              <a:latin typeface="Times New Roman" panose="02020603050405020304" pitchFamily="18" charset="0"/>
              <a:cs typeface="Times New Roman" panose="02020603050405020304" pitchFamily="18" charset="0"/>
            </a:endParaRPr>
          </a:p>
          <a:p>
            <a:pPr>
              <a:lnSpc>
                <a:spcPct val="100000"/>
              </a:lnSpc>
            </a:pPr>
            <a:r>
              <a:rPr lang="en-US" b="1" dirty="0">
                <a:latin typeface="Times New Roman" panose="02020603050405020304" pitchFamily="18" charset="0"/>
                <a:cs typeface="Times New Roman" panose="02020603050405020304" pitchFamily="18" charset="0"/>
              </a:rPr>
              <a:t>Extracted Features:</a:t>
            </a:r>
          </a:p>
          <a:p>
            <a:pPr>
              <a:lnSpc>
                <a:spcPct val="100000"/>
              </a:lnSpc>
            </a:pPr>
            <a:r>
              <a:rPr lang="en-US" dirty="0">
                <a:latin typeface="Times New Roman" panose="02020603050405020304" pitchFamily="18" charset="0"/>
                <a:cs typeface="Times New Roman" panose="02020603050405020304" pitchFamily="18" charset="0"/>
              </a:rPr>
              <a:t>          Hour of Crime</a:t>
            </a:r>
          </a:p>
          <a:p>
            <a:pPr>
              <a:lnSpc>
                <a:spcPct val="100000"/>
              </a:lnSpc>
            </a:pPr>
            <a:r>
              <a:rPr lang="en-US" dirty="0">
                <a:latin typeface="Times New Roman" panose="02020603050405020304" pitchFamily="18" charset="0"/>
                <a:cs typeface="Times New Roman" panose="02020603050405020304" pitchFamily="18" charset="0"/>
              </a:rPr>
              <a:t>          Day of Week, Month, Season</a:t>
            </a:r>
          </a:p>
          <a:p>
            <a:pPr>
              <a:lnSpc>
                <a:spcPct val="100000"/>
              </a:lnSpc>
            </a:pPr>
            <a:endParaRPr lang="en-US" dirty="0">
              <a:latin typeface="Times New Roman" panose="02020603050405020304" pitchFamily="18" charset="0"/>
              <a:cs typeface="Times New Roman" panose="02020603050405020304" pitchFamily="18" charset="0"/>
            </a:endParaRPr>
          </a:p>
          <a:p>
            <a:pPr>
              <a:lnSpc>
                <a:spcPct val="100000"/>
              </a:lnSpc>
            </a:pPr>
            <a:endParaRPr lang="en-US" dirty="0">
              <a:latin typeface="Times New Roman" panose="02020603050405020304" pitchFamily="18" charset="0"/>
              <a:cs typeface="Times New Roman" panose="02020603050405020304" pitchFamily="18" charset="0"/>
            </a:endParaRPr>
          </a:p>
          <a:p>
            <a:pPr marL="742950" lvl="1" indent="-285750">
              <a:lnSpc>
                <a:spcPct val="100000"/>
              </a:lnSpc>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CD3EB08-0D83-6087-0A52-F27FE0FEC005}"/>
              </a:ext>
            </a:extLst>
          </p:cNvPr>
          <p:cNvSpPr>
            <a:spLocks noGrp="1"/>
          </p:cNvSpPr>
          <p:nvPr>
            <p:ph type="sldNum" sz="quarter" idx="12"/>
          </p:nvPr>
        </p:nvSpPr>
        <p:spPr/>
        <p:txBody>
          <a:bodyPr/>
          <a:lstStyle/>
          <a:p>
            <a:fld id="{3A98EE3D-8CD1-4C3F-BD1C-C98C9596463C}" type="slidenum">
              <a:rPr lang="en-US" smtClean="0"/>
              <a:t>4</a:t>
            </a:fld>
            <a:endParaRPr lang="en-US" dirty="0"/>
          </a:p>
        </p:txBody>
      </p:sp>
    </p:spTree>
    <p:extLst>
      <p:ext uri="{BB962C8B-B14F-4D97-AF65-F5344CB8AC3E}">
        <p14:creationId xmlns:p14="http://schemas.microsoft.com/office/powerpoint/2010/main" val="210454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0" name="Straight Connector 39">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7" y="1238442"/>
            <a:ext cx="3635926" cy="4355751"/>
          </a:xfrm>
          <a:prstGeom prst="rect">
            <a:avLst/>
          </a:prstGeom>
          <a:solidFill>
            <a:schemeClr val="tx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793663-CB7B-9BA8-BA6F-1B701AE8F187}"/>
              </a:ext>
            </a:extLst>
          </p:cNvPr>
          <p:cNvSpPr>
            <a:spLocks noGrp="1"/>
          </p:cNvSpPr>
          <p:nvPr>
            <p:ph type="title"/>
          </p:nvPr>
        </p:nvSpPr>
        <p:spPr>
          <a:xfrm>
            <a:off x="854277" y="1475234"/>
            <a:ext cx="3214307" cy="2901694"/>
          </a:xfrm>
        </p:spPr>
        <p:txBody>
          <a:bodyPr vert="horz" lIns="91440" tIns="45720" rIns="91440" bIns="45720" rtlCol="0" anchor="b">
            <a:normAutofit/>
          </a:bodyPr>
          <a:lstStyle/>
          <a:p>
            <a:r>
              <a:rPr lang="en-US" sz="4400">
                <a:solidFill>
                  <a:schemeClr val="bg1"/>
                </a:solidFill>
              </a:rPr>
              <a:t>Exploratory Data Analysis </a:t>
            </a:r>
          </a:p>
        </p:txBody>
      </p:sp>
      <p:cxnSp>
        <p:nvCxnSpPr>
          <p:cNvPr id="46" name="Straight Connector 45">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695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7" name="Picture 6" descr="A screenshot of a computer&#10;&#10;Description automatically generated">
            <a:extLst>
              <a:ext uri="{FF2B5EF4-FFF2-40B4-BE49-F238E27FC236}">
                <a16:creationId xmlns:a16="http://schemas.microsoft.com/office/drawing/2014/main" id="{68C3FE2E-3D01-D9DB-CE5D-A8A1A9F8C574}"/>
              </a:ext>
            </a:extLst>
          </p:cNvPr>
          <p:cNvPicPr>
            <a:picLocks noChangeAspect="1"/>
          </p:cNvPicPr>
          <p:nvPr/>
        </p:nvPicPr>
        <p:blipFill>
          <a:blip r:embed="rId2">
            <a:extLst>
              <a:ext uri="{28A0092B-C50C-407E-A947-70E740481C1C}">
                <a14:useLocalDpi xmlns:a14="http://schemas.microsoft.com/office/drawing/2010/main" val="0"/>
              </a:ext>
            </a:extLst>
          </a:blip>
          <a:srcRect l="6323" t="21830" r="46324" b="7189"/>
          <a:stretch/>
        </p:blipFill>
        <p:spPr>
          <a:xfrm>
            <a:off x="8283692" y="1095753"/>
            <a:ext cx="3309846" cy="3978842"/>
          </a:xfrm>
          <a:prstGeom prst="rect">
            <a:avLst/>
          </a:prstGeom>
        </p:spPr>
      </p:pic>
      <p:pic>
        <p:nvPicPr>
          <p:cNvPr id="5" name="Content Placeholder 4" descr="A screen shot of a computer&#10;&#10;Description automatically generated">
            <a:extLst>
              <a:ext uri="{FF2B5EF4-FFF2-40B4-BE49-F238E27FC236}">
                <a16:creationId xmlns:a16="http://schemas.microsoft.com/office/drawing/2014/main" id="{C43E630E-FAFF-CAF0-C6B6-EEA8C9C93F6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2795" r="48927"/>
          <a:stretch/>
        </p:blipFill>
        <p:spPr>
          <a:xfrm>
            <a:off x="4449169" y="1095753"/>
            <a:ext cx="3310917" cy="3978842"/>
          </a:xfrm>
          <a:prstGeom prst="rect">
            <a:avLst/>
          </a:prstGeom>
        </p:spPr>
      </p:pic>
      <p:sp>
        <p:nvSpPr>
          <p:cNvPr id="48" name="Rectangle 47">
            <a:extLst>
              <a:ext uri="{FF2B5EF4-FFF2-40B4-BE49-F238E27FC236}">
                <a16:creationId xmlns:a16="http://schemas.microsoft.com/office/drawing/2014/main" id="{E239D8CC-16F4-4B2B-80F0-203C56D0D2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lide Number Placeholder 2">
            <a:extLst>
              <a:ext uri="{FF2B5EF4-FFF2-40B4-BE49-F238E27FC236}">
                <a16:creationId xmlns:a16="http://schemas.microsoft.com/office/drawing/2014/main" id="{373917BC-EBC9-88B8-625A-93DCB57F78A1}"/>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spcAft>
                <a:spcPts val="600"/>
              </a:spcAft>
            </a:pPr>
            <a:fld id="{3A98EE3D-8CD1-4C3F-BD1C-C98C9596463C}" type="slidenum">
              <a:rPr lang="en-US" sz="1050" smtClean="0"/>
              <a:pPr>
                <a:spcAft>
                  <a:spcPts val="600"/>
                </a:spcAft>
              </a:pPr>
              <a:t>5</a:t>
            </a:fld>
            <a:endParaRPr lang="en-US" sz="1050"/>
          </a:p>
        </p:txBody>
      </p:sp>
    </p:spTree>
    <p:extLst>
      <p:ext uri="{BB962C8B-B14F-4D97-AF65-F5344CB8AC3E}">
        <p14:creationId xmlns:p14="http://schemas.microsoft.com/office/powerpoint/2010/main" val="893804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graph with numbers and lines&#10;&#10;Description automatically generated">
            <a:extLst>
              <a:ext uri="{FF2B5EF4-FFF2-40B4-BE49-F238E27FC236}">
                <a16:creationId xmlns:a16="http://schemas.microsoft.com/office/drawing/2014/main" id="{3B42D15E-44A3-4030-DA3C-87B5D08DD3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826" y="577367"/>
            <a:ext cx="5902680" cy="4918017"/>
          </a:xfrm>
          <a:prstGeom prst="rect">
            <a:avLst/>
          </a:prstGeom>
        </p:spPr>
      </p:pic>
      <p:sp>
        <p:nvSpPr>
          <p:cNvPr id="2" name="Slide Number Placeholder 1">
            <a:extLst>
              <a:ext uri="{FF2B5EF4-FFF2-40B4-BE49-F238E27FC236}">
                <a16:creationId xmlns:a16="http://schemas.microsoft.com/office/drawing/2014/main" id="{AF5DD7C5-7FE4-D33A-C82C-6EC5F1F48D91}"/>
              </a:ext>
            </a:extLst>
          </p:cNvPr>
          <p:cNvSpPr>
            <a:spLocks noGrp="1"/>
          </p:cNvSpPr>
          <p:nvPr>
            <p:ph type="sldNum" sz="quarter" idx="12"/>
          </p:nvPr>
        </p:nvSpPr>
        <p:spPr/>
        <p:txBody>
          <a:bodyPr/>
          <a:lstStyle/>
          <a:p>
            <a:fld id="{3A98EE3D-8CD1-4C3F-BD1C-C98C9596463C}" type="slidenum">
              <a:rPr lang="en-US" smtClean="0"/>
              <a:t>6</a:t>
            </a:fld>
            <a:endParaRPr lang="en-US" dirty="0"/>
          </a:p>
        </p:txBody>
      </p:sp>
      <p:pic>
        <p:nvPicPr>
          <p:cNvPr id="5" name="Picture 4" descr="A screenshot of a graph&#10;&#10;Description automatically generated">
            <a:extLst>
              <a:ext uri="{FF2B5EF4-FFF2-40B4-BE49-F238E27FC236}">
                <a16:creationId xmlns:a16="http://schemas.microsoft.com/office/drawing/2014/main" id="{73F366F2-AECD-4507-680B-028BD820A60B}"/>
              </a:ext>
            </a:extLst>
          </p:cNvPr>
          <p:cNvPicPr>
            <a:picLocks noChangeAspect="1"/>
          </p:cNvPicPr>
          <p:nvPr/>
        </p:nvPicPr>
        <p:blipFill>
          <a:blip r:embed="rId3">
            <a:extLst>
              <a:ext uri="{28A0092B-C50C-407E-A947-70E740481C1C}">
                <a14:useLocalDpi xmlns:a14="http://schemas.microsoft.com/office/drawing/2010/main" val="0"/>
              </a:ext>
            </a:extLst>
          </a:blip>
          <a:srcRect l="7392" r="37580"/>
          <a:stretch/>
        </p:blipFill>
        <p:spPr>
          <a:xfrm>
            <a:off x="6786390" y="577367"/>
            <a:ext cx="4529358" cy="4918018"/>
          </a:xfrm>
          <a:prstGeom prst="rect">
            <a:avLst/>
          </a:prstGeom>
        </p:spPr>
      </p:pic>
    </p:spTree>
    <p:extLst>
      <p:ext uri="{BB962C8B-B14F-4D97-AF65-F5344CB8AC3E}">
        <p14:creationId xmlns:p14="http://schemas.microsoft.com/office/powerpoint/2010/main" val="3869021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F3A2836-502E-BE97-9F5B-4EB7038CC1B8}"/>
              </a:ext>
            </a:extLst>
          </p:cNvPr>
          <p:cNvSpPr>
            <a:spLocks noGrp="1"/>
          </p:cNvSpPr>
          <p:nvPr>
            <p:ph sz="half" idx="1"/>
          </p:nvPr>
        </p:nvSpPr>
        <p:spPr/>
        <p:txBody>
          <a:bodyPr/>
          <a:lstStyle/>
          <a:p>
            <a:endParaRPr lang="en-IN"/>
          </a:p>
        </p:txBody>
      </p:sp>
      <p:pic>
        <p:nvPicPr>
          <p:cNvPr id="9" name="Content Placeholder 8">
            <a:extLst>
              <a:ext uri="{FF2B5EF4-FFF2-40B4-BE49-F238E27FC236}">
                <a16:creationId xmlns:a16="http://schemas.microsoft.com/office/drawing/2014/main" id="{2F7B0A9E-FF0B-C5F8-54EB-6F43483C052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6000" y="278296"/>
            <a:ext cx="5867400" cy="5883963"/>
          </a:xfrm>
        </p:spPr>
      </p:pic>
      <p:sp>
        <p:nvSpPr>
          <p:cNvPr id="2" name="Slide Number Placeholder 1">
            <a:extLst>
              <a:ext uri="{FF2B5EF4-FFF2-40B4-BE49-F238E27FC236}">
                <a16:creationId xmlns:a16="http://schemas.microsoft.com/office/drawing/2014/main" id="{2A02F868-22EA-306D-E76C-AD98824AE8F5}"/>
              </a:ext>
            </a:extLst>
          </p:cNvPr>
          <p:cNvSpPr>
            <a:spLocks noGrp="1"/>
          </p:cNvSpPr>
          <p:nvPr>
            <p:ph type="sldNum" sz="quarter" idx="12"/>
          </p:nvPr>
        </p:nvSpPr>
        <p:spPr/>
        <p:txBody>
          <a:bodyPr/>
          <a:lstStyle/>
          <a:p>
            <a:fld id="{3A98EE3D-8CD1-4C3F-BD1C-C98C9596463C}" type="slidenum">
              <a:rPr lang="en-US" smtClean="0"/>
              <a:t>7</a:t>
            </a:fld>
            <a:endParaRPr lang="en-US" dirty="0"/>
          </a:p>
        </p:txBody>
      </p:sp>
      <p:pic>
        <p:nvPicPr>
          <p:cNvPr id="4" name="Picture 3">
            <a:extLst>
              <a:ext uri="{FF2B5EF4-FFF2-40B4-BE49-F238E27FC236}">
                <a16:creationId xmlns:a16="http://schemas.microsoft.com/office/drawing/2014/main" id="{EA849197-9A78-FF75-3818-D74CB9257C3C}"/>
              </a:ext>
            </a:extLst>
          </p:cNvPr>
          <p:cNvPicPr>
            <a:picLocks noChangeAspect="1"/>
          </p:cNvPicPr>
          <p:nvPr/>
        </p:nvPicPr>
        <p:blipFill>
          <a:blip r:embed="rId3">
            <a:extLst>
              <a:ext uri="{28A0092B-C50C-407E-A947-70E740481C1C}">
                <a14:useLocalDpi xmlns:a14="http://schemas.microsoft.com/office/drawing/2010/main" val="0"/>
              </a:ext>
            </a:extLst>
          </a:blip>
          <a:srcRect l="27787" t="25496" r="19334" b="14847"/>
          <a:stretch/>
        </p:blipFill>
        <p:spPr>
          <a:xfrm>
            <a:off x="228600" y="278296"/>
            <a:ext cx="5867400" cy="5883964"/>
          </a:xfrm>
          <a:prstGeom prst="rect">
            <a:avLst/>
          </a:prstGeom>
        </p:spPr>
      </p:pic>
    </p:spTree>
    <p:extLst>
      <p:ext uri="{BB962C8B-B14F-4D97-AF65-F5344CB8AC3E}">
        <p14:creationId xmlns:p14="http://schemas.microsoft.com/office/powerpoint/2010/main" val="1381097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02BBA8-FF12-1062-89A5-C8E789A021DF}"/>
              </a:ext>
            </a:extLst>
          </p:cNvPr>
          <p:cNvSpPr>
            <a:spLocks noGrp="1"/>
          </p:cNvSpPr>
          <p:nvPr>
            <p:ph type="sldNum" sz="quarter" idx="12"/>
          </p:nvPr>
        </p:nvSpPr>
        <p:spPr/>
        <p:txBody>
          <a:bodyPr/>
          <a:lstStyle/>
          <a:p>
            <a:fld id="{3A98EE3D-8CD1-4C3F-BD1C-C98C9596463C}" type="slidenum">
              <a:rPr lang="en-US" smtClean="0"/>
              <a:t>8</a:t>
            </a:fld>
            <a:endParaRPr lang="en-US" dirty="0"/>
          </a:p>
        </p:txBody>
      </p:sp>
      <p:pic>
        <p:nvPicPr>
          <p:cNvPr id="6" name="Content Placeholder 5" descr="A screenshot of a computer&#10;&#10;Description automatically generated">
            <a:extLst>
              <a:ext uri="{FF2B5EF4-FFF2-40B4-BE49-F238E27FC236}">
                <a16:creationId xmlns:a16="http://schemas.microsoft.com/office/drawing/2014/main" id="{9305F051-0550-0E9A-6023-B8CA88212742}"/>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rcRect t="4660" b="6524"/>
          <a:stretch/>
        </p:blipFill>
        <p:spPr>
          <a:xfrm>
            <a:off x="874004" y="614667"/>
            <a:ext cx="10008717" cy="5246306"/>
          </a:xfrm>
        </p:spPr>
      </p:pic>
    </p:spTree>
    <p:extLst>
      <p:ext uri="{BB962C8B-B14F-4D97-AF65-F5344CB8AC3E}">
        <p14:creationId xmlns:p14="http://schemas.microsoft.com/office/powerpoint/2010/main" val="2629708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C080D-F0FE-52B4-6291-B0496E6C47BD}"/>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Overview of Similar Approaches</a:t>
            </a:r>
          </a:p>
        </p:txBody>
      </p:sp>
      <p:graphicFrame>
        <p:nvGraphicFramePr>
          <p:cNvPr id="5" name="Content Placeholder 2">
            <a:extLst>
              <a:ext uri="{FF2B5EF4-FFF2-40B4-BE49-F238E27FC236}">
                <a16:creationId xmlns:a16="http://schemas.microsoft.com/office/drawing/2014/main" id="{8EAE0B07-9203-FB6D-66DD-DD29CD64F60B}"/>
              </a:ext>
            </a:extLst>
          </p:cNvPr>
          <p:cNvGraphicFramePr>
            <a:graphicFrameLocks noGrp="1"/>
          </p:cNvGraphicFramePr>
          <p:nvPr>
            <p:ph idx="1"/>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438F945F-F7B0-DEEC-24EE-6B43DD406ED6}"/>
              </a:ext>
            </a:extLst>
          </p:cNvPr>
          <p:cNvSpPr>
            <a:spLocks noGrp="1"/>
          </p:cNvSpPr>
          <p:nvPr>
            <p:ph type="sldNum" sz="quarter" idx="12"/>
          </p:nvPr>
        </p:nvSpPr>
        <p:spPr/>
        <p:txBody>
          <a:bodyPr/>
          <a:lstStyle/>
          <a:p>
            <a:fld id="{3A98EE3D-8CD1-4C3F-BD1C-C98C9596463C}" type="slidenum">
              <a:rPr lang="en-US" smtClean="0"/>
              <a:t>9</a:t>
            </a:fld>
            <a:endParaRPr lang="en-US" dirty="0"/>
          </a:p>
        </p:txBody>
      </p:sp>
    </p:spTree>
    <p:extLst>
      <p:ext uri="{BB962C8B-B14F-4D97-AF65-F5344CB8AC3E}">
        <p14:creationId xmlns:p14="http://schemas.microsoft.com/office/powerpoint/2010/main" val="4109389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F0A37D-2337-4AAF-98B0-7E4E9B98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DEDDCB-04AB-C424-3D35-B09340B079CF}"/>
              </a:ext>
            </a:extLst>
          </p:cNvPr>
          <p:cNvSpPr>
            <a:spLocks noGrp="1"/>
          </p:cNvSpPr>
          <p:nvPr>
            <p:ph type="title"/>
          </p:nvPr>
        </p:nvSpPr>
        <p:spPr>
          <a:xfrm>
            <a:off x="1097280" y="286603"/>
            <a:ext cx="10058400" cy="1450757"/>
          </a:xfrm>
        </p:spPr>
        <p:txBody>
          <a:bodyPr>
            <a:normAutofit/>
          </a:bodyPr>
          <a:lstStyle/>
          <a:p>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Crime Classification:</a:t>
            </a:r>
            <a:endParaRPr lang="en-US">
              <a:latin typeface="Times New Roman" panose="02020603050405020304" pitchFamily="18"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F15CCCF0-E573-463A-9760-1FDC0B2CFB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F7234D70-FB65-4E99-985E-64D219674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5D17F779-4FF1-6259-017E-2FC372521F6D}"/>
              </a:ext>
            </a:extLst>
          </p:cNvPr>
          <p:cNvGraphicFramePr>
            <a:graphicFrameLocks noGrp="1"/>
          </p:cNvGraphicFramePr>
          <p:nvPr>
            <p:ph idx="1"/>
            <p:extLst>
              <p:ext uri="{D42A27DB-BD31-4B8C-83A1-F6EECF244321}">
                <p14:modId xmlns:p14="http://schemas.microsoft.com/office/powerpoint/2010/main" val="1108275030"/>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20B2285E-8881-FB4C-385F-255FB3647013}"/>
              </a:ext>
            </a:extLst>
          </p:cNvPr>
          <p:cNvSpPr>
            <a:spLocks noGrp="1"/>
          </p:cNvSpPr>
          <p:nvPr>
            <p:ph type="sldNum" sz="quarter" idx="12"/>
          </p:nvPr>
        </p:nvSpPr>
        <p:spPr/>
        <p:txBody>
          <a:bodyPr/>
          <a:lstStyle/>
          <a:p>
            <a:fld id="{3A98EE3D-8CD1-4C3F-BD1C-C98C9596463C}" type="slidenum">
              <a:rPr lang="en-US" smtClean="0"/>
              <a:t>10</a:t>
            </a:fld>
            <a:endParaRPr lang="en-US" dirty="0"/>
          </a:p>
        </p:txBody>
      </p:sp>
    </p:spTree>
    <p:extLst>
      <p:ext uri="{BB962C8B-B14F-4D97-AF65-F5344CB8AC3E}">
        <p14:creationId xmlns:p14="http://schemas.microsoft.com/office/powerpoint/2010/main" val="4029819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0E58038-8ACE-4AD9-B404-25C603550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3511C715-B317-3020-BCC3-6D9707B850C1}"/>
              </a:ext>
            </a:extLst>
          </p:cNvPr>
          <p:cNvPicPr>
            <a:picLocks noChangeAspect="1"/>
          </p:cNvPicPr>
          <p:nvPr/>
        </p:nvPicPr>
        <p:blipFill>
          <a:blip r:embed="rId2">
            <a:alphaModFix amt="35000"/>
          </a:blip>
          <a:srcRect t="1220" b="14510"/>
          <a:stretch/>
        </p:blipFill>
        <p:spPr>
          <a:xfrm>
            <a:off x="20" y="10"/>
            <a:ext cx="12191980" cy="6857990"/>
          </a:xfrm>
          <a:prstGeom prst="rect">
            <a:avLst/>
          </a:prstGeom>
        </p:spPr>
      </p:pic>
      <p:sp>
        <p:nvSpPr>
          <p:cNvPr id="2" name="Title 1">
            <a:extLst>
              <a:ext uri="{FF2B5EF4-FFF2-40B4-BE49-F238E27FC236}">
                <a16:creationId xmlns:a16="http://schemas.microsoft.com/office/drawing/2014/main" id="{03A1D136-1FC1-3B63-44FB-5968DE4ACD99}"/>
              </a:ext>
            </a:extLst>
          </p:cNvPr>
          <p:cNvSpPr>
            <a:spLocks noGrp="1"/>
          </p:cNvSpPr>
          <p:nvPr>
            <p:ph type="title"/>
          </p:nvPr>
        </p:nvSpPr>
        <p:spPr>
          <a:xfrm>
            <a:off x="1097280" y="286603"/>
            <a:ext cx="10058400" cy="1450757"/>
          </a:xfrm>
        </p:spPr>
        <p:txBody>
          <a:bodyPr>
            <a:normAutofit/>
          </a:bodyPr>
          <a:lstStyle/>
          <a:p>
            <a:r>
              <a:rPr lang="en-US" dirty="0">
                <a:latin typeface="Times New Roman" panose="02020603050405020304" pitchFamily="18" charset="0"/>
                <a:cs typeface="Times New Roman" panose="02020603050405020304" pitchFamily="18" charset="0"/>
              </a:rPr>
              <a:t>Proposed Methodology: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1.  Crime Spatial Analysis</a:t>
            </a:r>
          </a:p>
        </p:txBody>
      </p:sp>
      <p:cxnSp>
        <p:nvCxnSpPr>
          <p:cNvPr id="11" name="Straight Connector 10">
            <a:extLst>
              <a:ext uri="{FF2B5EF4-FFF2-40B4-BE49-F238E27FC236}">
                <a16:creationId xmlns:a16="http://schemas.microsoft.com/office/drawing/2014/main" id="{38A34772-9011-42B5-AA63-FD6DEC92EE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910746"/>
            <a:ext cx="996696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80B45F0-2E01-04E7-2BC9-CC8B89B29258}"/>
              </a:ext>
            </a:extLst>
          </p:cNvPr>
          <p:cNvSpPr>
            <a:spLocks noGrp="1"/>
          </p:cNvSpPr>
          <p:nvPr>
            <p:ph idx="1"/>
          </p:nvPr>
        </p:nvSpPr>
        <p:spPr>
          <a:xfrm>
            <a:off x="1097280" y="2108201"/>
            <a:ext cx="10058400" cy="3760891"/>
          </a:xfrm>
        </p:spPr>
        <p:txBody>
          <a:bodyPr>
            <a:normAutofit lnSpcReduction="10000"/>
          </a:bodyPr>
          <a:lstStyle/>
          <a:p>
            <a:pPr>
              <a:lnSpc>
                <a:spcPct val="100000"/>
              </a:lnSpc>
            </a:pPr>
            <a:r>
              <a:rPr lang="en-US" b="1" dirty="0">
                <a:latin typeface="Times New Roman" panose="02020603050405020304" pitchFamily="18" charset="0"/>
                <a:cs typeface="Times New Roman" panose="02020603050405020304" pitchFamily="18" charset="0"/>
              </a:rPr>
              <a:t>Objective:</a:t>
            </a:r>
            <a:r>
              <a:rPr lang="en-US" dirty="0">
                <a:latin typeface="Times New Roman" panose="02020603050405020304" pitchFamily="18" charset="0"/>
                <a:cs typeface="Times New Roman" panose="02020603050405020304" pitchFamily="18" charset="0"/>
              </a:rPr>
              <a:t> </a:t>
            </a:r>
          </a:p>
          <a:p>
            <a:pPr>
              <a:lnSpc>
                <a:spcPct val="100000"/>
              </a:lnSpc>
            </a:pPr>
            <a:r>
              <a:rPr lang="en-US" dirty="0">
                <a:latin typeface="Times New Roman" panose="02020603050405020304" pitchFamily="18" charset="0"/>
                <a:cs typeface="Times New Roman" panose="02020603050405020304" pitchFamily="18" charset="0"/>
              </a:rPr>
              <a:t>Utilize historical crime data and factors like community areas to predict areas with high crime rates. This analysis can help assess risk, allowing individuals and organizations to evaluate safety in particular locations. The findings can guide decisions about personal safety and community interventions..</a:t>
            </a:r>
            <a:endParaRPr lang="en-US" b="1" dirty="0">
              <a:latin typeface="Times New Roman" panose="02020603050405020304" pitchFamily="18" charset="0"/>
              <a:cs typeface="Times New Roman" panose="02020603050405020304" pitchFamily="18" charset="0"/>
            </a:endParaRPr>
          </a:p>
          <a:p>
            <a:pPr>
              <a:lnSpc>
                <a:spcPct val="100000"/>
              </a:lnSpc>
            </a:pPr>
            <a:r>
              <a:rPr lang="en-US" b="1" dirty="0">
                <a:latin typeface="Times New Roman" panose="02020603050405020304" pitchFamily="18" charset="0"/>
                <a:cs typeface="Times New Roman" panose="02020603050405020304" pitchFamily="18" charset="0"/>
              </a:rPr>
              <a:t>Models:</a:t>
            </a:r>
            <a:endParaRPr lang="en-US" dirty="0">
              <a:latin typeface="Times New Roman" panose="02020603050405020304" pitchFamily="18" charset="0"/>
              <a:cs typeface="Times New Roman" panose="02020603050405020304" pitchFamily="18" charset="0"/>
            </a:endParaRPr>
          </a:p>
          <a:p>
            <a:pPr marL="742950" lvl="1" indent="-285750">
              <a:lnSpc>
                <a:spcPct val="1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Random Forest:</a:t>
            </a:r>
            <a:r>
              <a:rPr lang="en-US" dirty="0">
                <a:latin typeface="Times New Roman" panose="02020603050405020304" pitchFamily="18" charset="0"/>
                <a:cs typeface="Times New Roman" panose="02020603050405020304" pitchFamily="18" charset="0"/>
              </a:rPr>
              <a:t> An ensemble learning method to improve predictive accuracy and control over-fitting. Handles high-dimensional data well, is robust to noise, and provides feature importance.</a:t>
            </a:r>
          </a:p>
          <a:p>
            <a:pPr marL="742950" lvl="1" indent="-285750">
              <a:lnSpc>
                <a:spcPct val="1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Gradient Boosting:</a:t>
            </a:r>
            <a:r>
              <a:rPr lang="en-US" dirty="0">
                <a:latin typeface="Times New Roman" panose="02020603050405020304" pitchFamily="18" charset="0"/>
                <a:cs typeface="Times New Roman" panose="02020603050405020304" pitchFamily="18" charset="0"/>
              </a:rPr>
              <a:t> A boosting method that combines weak learners to create a strong predictive model by focusing on correcting errors made by previous models. Often achieves high predictive accuracy and handles various types of data effectively. </a:t>
            </a:r>
          </a:p>
          <a:p>
            <a:pPr>
              <a:lnSpc>
                <a:spcPct val="100000"/>
              </a:lnSpc>
            </a:pPr>
            <a:endParaRPr lang="en-US"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82BCDE19-2810-4337-9C49-8589C42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896E5CB6-96EC-012A-B4E9-3B644383C464}"/>
              </a:ext>
            </a:extLst>
          </p:cNvPr>
          <p:cNvSpPr>
            <a:spLocks noGrp="1"/>
          </p:cNvSpPr>
          <p:nvPr>
            <p:ph type="sldNum" sz="quarter" idx="12"/>
          </p:nvPr>
        </p:nvSpPr>
        <p:spPr/>
        <p:txBody>
          <a:bodyPr/>
          <a:lstStyle/>
          <a:p>
            <a:fld id="{3A98EE3D-8CD1-4C3F-BD1C-C98C9596463C}" type="slidenum">
              <a:rPr lang="en-US" smtClean="0"/>
              <a:t>11</a:t>
            </a:fld>
            <a:endParaRPr lang="en-US" dirty="0"/>
          </a:p>
        </p:txBody>
      </p:sp>
    </p:spTree>
    <p:extLst>
      <p:ext uri="{BB962C8B-B14F-4D97-AF65-F5344CB8AC3E}">
        <p14:creationId xmlns:p14="http://schemas.microsoft.com/office/powerpoint/2010/main" val="1213728110"/>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F91A70-D6C3-CBE0-4022-7534C74841BB}"/>
              </a:ext>
            </a:extLst>
          </p:cNvPr>
          <p:cNvSpPr>
            <a:spLocks noGrp="1"/>
          </p:cNvSpPr>
          <p:nvPr>
            <p:ph type="sldNum" sz="quarter" idx="12"/>
          </p:nvPr>
        </p:nvSpPr>
        <p:spPr/>
        <p:txBody>
          <a:bodyPr/>
          <a:lstStyle/>
          <a:p>
            <a:fld id="{3A98EE3D-8CD1-4C3F-BD1C-C98C9596463C}" type="slidenum">
              <a:rPr lang="en-US" smtClean="0"/>
              <a:t>12</a:t>
            </a:fld>
            <a:endParaRPr lang="en-US" dirty="0"/>
          </a:p>
        </p:txBody>
      </p:sp>
      <p:pic>
        <p:nvPicPr>
          <p:cNvPr id="4" name="Picture 3">
            <a:extLst>
              <a:ext uri="{FF2B5EF4-FFF2-40B4-BE49-F238E27FC236}">
                <a16:creationId xmlns:a16="http://schemas.microsoft.com/office/drawing/2014/main" id="{D15D64FD-B7B8-CB56-F4A0-02DBED108C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908" y="238539"/>
            <a:ext cx="5725631" cy="6052931"/>
          </a:xfrm>
          <a:prstGeom prst="rect">
            <a:avLst/>
          </a:prstGeom>
        </p:spPr>
      </p:pic>
      <p:pic>
        <p:nvPicPr>
          <p:cNvPr id="6" name="Picture 5">
            <a:extLst>
              <a:ext uri="{FF2B5EF4-FFF2-40B4-BE49-F238E27FC236}">
                <a16:creationId xmlns:a16="http://schemas.microsoft.com/office/drawing/2014/main" id="{2BA3A557-EAFB-CAA7-EF58-B66FD3AEFE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2254" y="1700479"/>
            <a:ext cx="3824746" cy="2414321"/>
          </a:xfrm>
          <a:prstGeom prst="rect">
            <a:avLst/>
          </a:prstGeom>
        </p:spPr>
      </p:pic>
    </p:spTree>
    <p:extLst>
      <p:ext uri="{BB962C8B-B14F-4D97-AF65-F5344CB8AC3E}">
        <p14:creationId xmlns:p14="http://schemas.microsoft.com/office/powerpoint/2010/main" val="3198812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5B66B93-9A63-339D-2518-79332FC4F8E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13183" y="298174"/>
            <a:ext cx="5233117" cy="5590692"/>
          </a:xfrm>
        </p:spPr>
      </p:pic>
      <p:pic>
        <p:nvPicPr>
          <p:cNvPr id="9" name="Content Placeholder 8">
            <a:extLst>
              <a:ext uri="{FF2B5EF4-FFF2-40B4-BE49-F238E27FC236}">
                <a16:creationId xmlns:a16="http://schemas.microsoft.com/office/drawing/2014/main" id="{B156EBB9-D614-69D1-AD16-87AF32622EF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816475" y="902464"/>
            <a:ext cx="3581900" cy="2191056"/>
          </a:xfrm>
        </p:spPr>
      </p:pic>
      <p:sp>
        <p:nvSpPr>
          <p:cNvPr id="2" name="Slide Number Placeholder 1">
            <a:extLst>
              <a:ext uri="{FF2B5EF4-FFF2-40B4-BE49-F238E27FC236}">
                <a16:creationId xmlns:a16="http://schemas.microsoft.com/office/drawing/2014/main" id="{72335130-F06D-DA62-1671-6D7AAB12B27A}"/>
              </a:ext>
            </a:extLst>
          </p:cNvPr>
          <p:cNvSpPr>
            <a:spLocks noGrp="1"/>
          </p:cNvSpPr>
          <p:nvPr>
            <p:ph type="sldNum" sz="quarter" idx="12"/>
          </p:nvPr>
        </p:nvSpPr>
        <p:spPr/>
        <p:txBody>
          <a:bodyPr/>
          <a:lstStyle/>
          <a:p>
            <a:fld id="{3A98EE3D-8CD1-4C3F-BD1C-C98C9596463C}" type="slidenum">
              <a:rPr lang="en-US" smtClean="0"/>
              <a:t>13</a:t>
            </a:fld>
            <a:endParaRPr lang="en-US" dirty="0"/>
          </a:p>
        </p:txBody>
      </p:sp>
    </p:spTree>
    <p:extLst>
      <p:ext uri="{BB962C8B-B14F-4D97-AF65-F5344CB8AC3E}">
        <p14:creationId xmlns:p14="http://schemas.microsoft.com/office/powerpoint/2010/main" val="3521166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597779-A08F-9EBF-6BF5-C53304B41465}"/>
              </a:ext>
            </a:extLst>
          </p:cNvPr>
          <p:cNvSpPr>
            <a:spLocks noGrp="1"/>
          </p:cNvSpPr>
          <p:nvPr>
            <p:ph type="sldNum" sz="quarter" idx="12"/>
          </p:nvPr>
        </p:nvSpPr>
        <p:spPr/>
        <p:txBody>
          <a:bodyPr/>
          <a:lstStyle/>
          <a:p>
            <a:fld id="{3A98EE3D-8CD1-4C3F-BD1C-C98C9596463C}" type="slidenum">
              <a:rPr lang="en-US" smtClean="0"/>
              <a:t>14</a:t>
            </a:fld>
            <a:endParaRPr lang="en-US" dirty="0"/>
          </a:p>
        </p:txBody>
      </p:sp>
      <p:pic>
        <p:nvPicPr>
          <p:cNvPr id="4" name="Picture 3">
            <a:extLst>
              <a:ext uri="{FF2B5EF4-FFF2-40B4-BE49-F238E27FC236}">
                <a16:creationId xmlns:a16="http://schemas.microsoft.com/office/drawing/2014/main" id="{082BE47D-73BC-E731-030C-8E0144384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188" y="139148"/>
            <a:ext cx="6338003" cy="6172200"/>
          </a:xfrm>
          <a:prstGeom prst="rect">
            <a:avLst/>
          </a:prstGeom>
        </p:spPr>
      </p:pic>
      <p:pic>
        <p:nvPicPr>
          <p:cNvPr id="6" name="Picture 5">
            <a:extLst>
              <a:ext uri="{FF2B5EF4-FFF2-40B4-BE49-F238E27FC236}">
                <a16:creationId xmlns:a16="http://schemas.microsoft.com/office/drawing/2014/main" id="{F6E4F154-30D0-0302-9645-DFE949B657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3594" y="1827625"/>
            <a:ext cx="3610479" cy="2010056"/>
          </a:xfrm>
          <a:prstGeom prst="rect">
            <a:avLst/>
          </a:prstGeom>
        </p:spPr>
      </p:pic>
    </p:spTree>
    <p:extLst>
      <p:ext uri="{BB962C8B-B14F-4D97-AF65-F5344CB8AC3E}">
        <p14:creationId xmlns:p14="http://schemas.microsoft.com/office/powerpoint/2010/main" val="1023042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0E58038-8ACE-4AD9-B404-25C603550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ADC99C6-93FF-8EE3-2A27-50C5AE09B26E}"/>
              </a:ext>
            </a:extLst>
          </p:cNvPr>
          <p:cNvPicPr>
            <a:picLocks noChangeAspect="1"/>
          </p:cNvPicPr>
          <p:nvPr/>
        </p:nvPicPr>
        <p:blipFill>
          <a:blip r:embed="rId2">
            <a:alphaModFix amt="35000"/>
          </a:blip>
          <a:srcRect t="7964" b="7767"/>
          <a:stretch/>
        </p:blipFill>
        <p:spPr>
          <a:xfrm>
            <a:off x="20" y="10"/>
            <a:ext cx="12191980" cy="6857990"/>
          </a:xfrm>
          <a:prstGeom prst="rect">
            <a:avLst/>
          </a:prstGeom>
        </p:spPr>
      </p:pic>
      <p:sp>
        <p:nvSpPr>
          <p:cNvPr id="2" name="Title 1">
            <a:extLst>
              <a:ext uri="{FF2B5EF4-FFF2-40B4-BE49-F238E27FC236}">
                <a16:creationId xmlns:a16="http://schemas.microsoft.com/office/drawing/2014/main" id="{799533DA-8EA0-810D-E734-67CD13E04042}"/>
              </a:ext>
            </a:extLst>
          </p:cNvPr>
          <p:cNvSpPr>
            <a:spLocks noGrp="1"/>
          </p:cNvSpPr>
          <p:nvPr>
            <p:ph type="title"/>
          </p:nvPr>
        </p:nvSpPr>
        <p:spPr>
          <a:xfrm>
            <a:off x="1097280" y="286603"/>
            <a:ext cx="10058400" cy="1450757"/>
          </a:xfrm>
        </p:spPr>
        <p:txBody>
          <a:bodyPr>
            <a:normAutofit fontScale="90000"/>
          </a:bodyPr>
          <a:lstStyle/>
          <a:p>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 Crime Trend Analysis</a:t>
            </a:r>
          </a:p>
        </p:txBody>
      </p:sp>
      <p:cxnSp>
        <p:nvCxnSpPr>
          <p:cNvPr id="11" name="Straight Connector 10">
            <a:extLst>
              <a:ext uri="{FF2B5EF4-FFF2-40B4-BE49-F238E27FC236}">
                <a16:creationId xmlns:a16="http://schemas.microsoft.com/office/drawing/2014/main" id="{38A34772-9011-42B5-AA63-FD6DEC92EE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910746"/>
            <a:ext cx="996696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18EE093-3AB4-4E87-A763-E4CAA2A9A695}"/>
              </a:ext>
            </a:extLst>
          </p:cNvPr>
          <p:cNvSpPr>
            <a:spLocks noGrp="1"/>
          </p:cNvSpPr>
          <p:nvPr>
            <p:ph idx="1"/>
          </p:nvPr>
        </p:nvSpPr>
        <p:spPr>
          <a:xfrm>
            <a:off x="1097280" y="2108201"/>
            <a:ext cx="10058400" cy="3760891"/>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Objective:</a:t>
            </a:r>
          </a:p>
          <a:p>
            <a:pPr marL="0" indent="0">
              <a:buNone/>
            </a:pPr>
            <a:r>
              <a:rPr lang="en-US" dirty="0">
                <a:latin typeface="Times New Roman" panose="02020603050405020304" pitchFamily="18" charset="0"/>
                <a:cs typeface="Times New Roman" panose="02020603050405020304" pitchFamily="18" charset="0"/>
              </a:rPr>
              <a:t>Historical data will be analyzed to detect seasonal variations and long-term patterns in crime rates. This will help identify peak crime periods, such as weekends, holidays, and summer months.</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Techniques: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ARIMA (</a:t>
            </a:r>
            <a:r>
              <a:rPr lang="en-US" b="1" dirty="0" err="1">
                <a:latin typeface="Times New Roman" panose="02020603050405020304" pitchFamily="18" charset="0"/>
                <a:cs typeface="Times New Roman" panose="02020603050405020304" pitchFamily="18" charset="0"/>
              </a:rPr>
              <a:t>AutoRegressive</a:t>
            </a:r>
            <a:r>
              <a:rPr lang="en-US" b="1" dirty="0">
                <a:latin typeface="Times New Roman" panose="02020603050405020304" pitchFamily="18" charset="0"/>
                <a:cs typeface="Times New Roman" panose="02020603050405020304" pitchFamily="18" charset="0"/>
              </a:rPr>
              <a:t> Integrated Moving Average): </a:t>
            </a:r>
            <a:r>
              <a:rPr lang="en-US" dirty="0">
                <a:latin typeface="Times New Roman" panose="02020603050405020304" pitchFamily="18" charset="0"/>
                <a:cs typeface="Times New Roman" panose="02020603050405020304" pitchFamily="18" charset="0"/>
              </a:rPr>
              <a:t>A popular time-series forecasting method that combines autoregression, differencing, and moving averages. Effective for capturing trends and seasonal patterns.</a:t>
            </a:r>
          </a:p>
        </p:txBody>
      </p:sp>
      <p:sp>
        <p:nvSpPr>
          <p:cNvPr id="13" name="Rectangle 12">
            <a:extLst>
              <a:ext uri="{FF2B5EF4-FFF2-40B4-BE49-F238E27FC236}">
                <a16:creationId xmlns:a16="http://schemas.microsoft.com/office/drawing/2014/main" id="{82BCDE19-2810-4337-9C49-8589C42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B376D049-AE34-0C17-D825-2C2F9929384A}"/>
              </a:ext>
            </a:extLst>
          </p:cNvPr>
          <p:cNvSpPr>
            <a:spLocks noGrp="1"/>
          </p:cNvSpPr>
          <p:nvPr>
            <p:ph type="sldNum" sz="quarter" idx="12"/>
          </p:nvPr>
        </p:nvSpPr>
        <p:spPr/>
        <p:txBody>
          <a:bodyPr/>
          <a:lstStyle/>
          <a:p>
            <a:fld id="{3A98EE3D-8CD1-4C3F-BD1C-C98C9596463C}" type="slidenum">
              <a:rPr lang="en-US" smtClean="0"/>
              <a:t>15</a:t>
            </a:fld>
            <a:endParaRPr lang="en-US" dirty="0"/>
          </a:p>
        </p:txBody>
      </p:sp>
    </p:spTree>
    <p:extLst>
      <p:ext uri="{BB962C8B-B14F-4D97-AF65-F5344CB8AC3E}">
        <p14:creationId xmlns:p14="http://schemas.microsoft.com/office/powerpoint/2010/main" val="25861715"/>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1844E54-7D47-249B-0E58-81B977468CC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47261" y="705678"/>
            <a:ext cx="5546035" cy="4949101"/>
          </a:xfrm>
        </p:spPr>
      </p:pic>
      <p:pic>
        <p:nvPicPr>
          <p:cNvPr id="9" name="Content Placeholder 8">
            <a:extLst>
              <a:ext uri="{FF2B5EF4-FFF2-40B4-BE49-F238E27FC236}">
                <a16:creationId xmlns:a16="http://schemas.microsoft.com/office/drawing/2014/main" id="{16F72621-5568-0103-A6D7-260F9F78A27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516688" y="705678"/>
            <a:ext cx="4972947" cy="4949101"/>
          </a:xfrm>
        </p:spPr>
      </p:pic>
      <p:sp>
        <p:nvSpPr>
          <p:cNvPr id="5" name="Slide Number Placeholder 4">
            <a:extLst>
              <a:ext uri="{FF2B5EF4-FFF2-40B4-BE49-F238E27FC236}">
                <a16:creationId xmlns:a16="http://schemas.microsoft.com/office/drawing/2014/main" id="{4E41D67F-0E4E-D0F4-80FB-04C780720284}"/>
              </a:ext>
            </a:extLst>
          </p:cNvPr>
          <p:cNvSpPr>
            <a:spLocks noGrp="1"/>
          </p:cNvSpPr>
          <p:nvPr>
            <p:ph type="sldNum" sz="quarter" idx="12"/>
          </p:nvPr>
        </p:nvSpPr>
        <p:spPr/>
        <p:txBody>
          <a:bodyPr/>
          <a:lstStyle/>
          <a:p>
            <a:fld id="{3A98EE3D-8CD1-4C3F-BD1C-C98C9596463C}" type="slidenum">
              <a:rPr lang="en-US" smtClean="0"/>
              <a:t>16</a:t>
            </a:fld>
            <a:endParaRPr lang="en-US" dirty="0"/>
          </a:p>
        </p:txBody>
      </p:sp>
    </p:spTree>
    <p:extLst>
      <p:ext uri="{BB962C8B-B14F-4D97-AF65-F5344CB8AC3E}">
        <p14:creationId xmlns:p14="http://schemas.microsoft.com/office/powerpoint/2010/main" val="2816564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93D813-C115-CB9F-3E64-942DED19B6BA}"/>
              </a:ext>
            </a:extLst>
          </p:cNvPr>
          <p:cNvSpPr>
            <a:spLocks noGrp="1"/>
          </p:cNvSpPr>
          <p:nvPr>
            <p:ph type="sldNum" sz="quarter" idx="12"/>
          </p:nvPr>
        </p:nvSpPr>
        <p:spPr/>
        <p:txBody>
          <a:bodyPr/>
          <a:lstStyle/>
          <a:p>
            <a:fld id="{3A98EE3D-8CD1-4C3F-BD1C-C98C9596463C}" type="slidenum">
              <a:rPr lang="en-US" smtClean="0"/>
              <a:t>17</a:t>
            </a:fld>
            <a:endParaRPr lang="en-US" dirty="0"/>
          </a:p>
        </p:txBody>
      </p:sp>
      <p:pic>
        <p:nvPicPr>
          <p:cNvPr id="6" name="Picture 5">
            <a:extLst>
              <a:ext uri="{FF2B5EF4-FFF2-40B4-BE49-F238E27FC236}">
                <a16:creationId xmlns:a16="http://schemas.microsoft.com/office/drawing/2014/main" id="{53407664-F474-1721-EC45-1EA8B51B19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0557"/>
            <a:ext cx="5734878" cy="3255607"/>
          </a:xfrm>
          <a:prstGeom prst="rect">
            <a:avLst/>
          </a:prstGeom>
        </p:spPr>
      </p:pic>
      <p:pic>
        <p:nvPicPr>
          <p:cNvPr id="8" name="Picture 7">
            <a:extLst>
              <a:ext uri="{FF2B5EF4-FFF2-40B4-BE49-F238E27FC236}">
                <a16:creationId xmlns:a16="http://schemas.microsoft.com/office/drawing/2014/main" id="{3F557318-9C6A-E420-BCBB-6921F4AF38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160254"/>
            <a:ext cx="5734878" cy="3131216"/>
          </a:xfrm>
          <a:prstGeom prst="rect">
            <a:avLst/>
          </a:prstGeom>
        </p:spPr>
      </p:pic>
      <p:pic>
        <p:nvPicPr>
          <p:cNvPr id="10" name="Picture 9">
            <a:extLst>
              <a:ext uri="{FF2B5EF4-FFF2-40B4-BE49-F238E27FC236}">
                <a16:creationId xmlns:a16="http://schemas.microsoft.com/office/drawing/2014/main" id="{DCB4D84E-4691-779B-4838-B9F4B12716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5914" y="21266"/>
            <a:ext cx="6028181" cy="6188904"/>
          </a:xfrm>
          <a:prstGeom prst="rect">
            <a:avLst/>
          </a:prstGeom>
        </p:spPr>
      </p:pic>
    </p:spTree>
    <p:extLst>
      <p:ext uri="{BB962C8B-B14F-4D97-AF65-F5344CB8AC3E}">
        <p14:creationId xmlns:p14="http://schemas.microsoft.com/office/powerpoint/2010/main" val="2411294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4" name="Straight Connector 33">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6482F060-A4AF-4E0B-B364-7C6BA4A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220" y="0"/>
            <a:ext cx="464131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6A703EA3-CC33-02F1-41A0-B6190B511193}"/>
              </a:ext>
            </a:extLst>
          </p:cNvPr>
          <p:cNvSpPr>
            <a:spLocks noGrp="1"/>
          </p:cNvSpPr>
          <p:nvPr>
            <p:ph type="title"/>
          </p:nvPr>
        </p:nvSpPr>
        <p:spPr>
          <a:xfrm>
            <a:off x="484814" y="640080"/>
            <a:ext cx="3659246" cy="2850319"/>
          </a:xfrm>
        </p:spPr>
        <p:txBody>
          <a:bodyPr vert="horz" lIns="91440" tIns="45720" rIns="91440" bIns="45720" rtlCol="0" anchor="b">
            <a:normAutofit/>
          </a:bodyPr>
          <a:lstStyle/>
          <a:p>
            <a:r>
              <a:rPr lang="en-US" sz="5400">
                <a:solidFill>
                  <a:srgbClr val="FFFFFF"/>
                </a:solidFill>
              </a:rPr>
              <a:t>ARIMA Model</a:t>
            </a:r>
          </a:p>
        </p:txBody>
      </p:sp>
      <p:cxnSp>
        <p:nvCxnSpPr>
          <p:cNvPr id="38" name="Straight Connector 37">
            <a:extLst>
              <a:ext uri="{FF2B5EF4-FFF2-40B4-BE49-F238E27FC236}">
                <a16:creationId xmlns:a16="http://schemas.microsoft.com/office/drawing/2014/main" id="{B9EB6DAA-2F0C-43D5-A577-15D5D2C4E3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2797" y="3651268"/>
            <a:ext cx="3383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4" name="Content Placeholder 13" descr="A screenshot of a computer&#10;&#10;Description automatically generated">
            <a:extLst>
              <a:ext uri="{FF2B5EF4-FFF2-40B4-BE49-F238E27FC236}">
                <a16:creationId xmlns:a16="http://schemas.microsoft.com/office/drawing/2014/main" id="{2ABDE8E7-25A2-20F7-B005-48C2337DF6F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950" t="23721" r="47112" b="6822"/>
          <a:stretch/>
        </p:blipFill>
        <p:spPr>
          <a:xfrm>
            <a:off x="4944528" y="439073"/>
            <a:ext cx="6921407" cy="5525791"/>
          </a:xfrm>
          <a:prstGeom prst="rect">
            <a:avLst/>
          </a:prstGeom>
        </p:spPr>
      </p:pic>
      <p:sp>
        <p:nvSpPr>
          <p:cNvPr id="2" name="Slide Number Placeholder 1">
            <a:extLst>
              <a:ext uri="{FF2B5EF4-FFF2-40B4-BE49-F238E27FC236}">
                <a16:creationId xmlns:a16="http://schemas.microsoft.com/office/drawing/2014/main" id="{B1BFDEE3-9E6A-D0DA-E1BF-8E0CDC0921F8}"/>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spcAft>
                <a:spcPts val="600"/>
              </a:spcAft>
            </a:pPr>
            <a:fld id="{3A98EE3D-8CD1-4C3F-BD1C-C98C9596463C}" type="slidenum">
              <a:rPr lang="en-US" sz="1050"/>
              <a:pPr>
                <a:spcAft>
                  <a:spcPts val="600"/>
                </a:spcAft>
              </a:pPr>
              <a:t>18</a:t>
            </a:fld>
            <a:endParaRPr lang="en-US" sz="1050"/>
          </a:p>
        </p:txBody>
      </p:sp>
    </p:spTree>
    <p:extLst>
      <p:ext uri="{BB962C8B-B14F-4D97-AF65-F5344CB8AC3E}">
        <p14:creationId xmlns:p14="http://schemas.microsoft.com/office/powerpoint/2010/main" val="588404917"/>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5014DE1B-FD50-40B1-A8A5-304666E7C6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1B41FE9-4F8F-4675-8668-D3330B371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screenshot of a computer&#10;&#10;Description automatically generated">
            <a:extLst>
              <a:ext uri="{FF2B5EF4-FFF2-40B4-BE49-F238E27FC236}">
                <a16:creationId xmlns:a16="http://schemas.microsoft.com/office/drawing/2014/main" id="{570F98CD-8CA3-2C3B-159A-1F4617CD9B39}"/>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rcRect l="9592" t="25228" r="43211" b="8504"/>
          <a:stretch/>
        </p:blipFill>
        <p:spPr>
          <a:xfrm>
            <a:off x="798745" y="1409986"/>
            <a:ext cx="5136388" cy="4056669"/>
          </a:xfrm>
          <a:prstGeom prst="rect">
            <a:avLst/>
          </a:prstGeom>
        </p:spPr>
      </p:pic>
      <p:cxnSp>
        <p:nvCxnSpPr>
          <p:cNvPr id="60" name="Straight Connector 59">
            <a:extLst>
              <a:ext uri="{FF2B5EF4-FFF2-40B4-BE49-F238E27FC236}">
                <a16:creationId xmlns:a16="http://schemas.microsoft.com/office/drawing/2014/main" id="{E230929C-760C-4746-B0AE-0D09A78A88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038225"/>
            <a:ext cx="0" cy="476250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A screen shot of a computer&#10;&#10;Description automatically generated">
            <a:extLst>
              <a:ext uri="{FF2B5EF4-FFF2-40B4-BE49-F238E27FC236}">
                <a16:creationId xmlns:a16="http://schemas.microsoft.com/office/drawing/2014/main" id="{E9DEEF1B-1502-F06B-A720-2F4DC875A0D3}"/>
              </a:ext>
            </a:extLst>
          </p:cNvPr>
          <p:cNvPicPr>
            <a:picLocks noChangeAspect="1"/>
          </p:cNvPicPr>
          <p:nvPr/>
        </p:nvPicPr>
        <p:blipFill>
          <a:blip r:embed="rId3">
            <a:extLst>
              <a:ext uri="{28A0092B-C50C-407E-A947-70E740481C1C}">
                <a14:useLocalDpi xmlns:a14="http://schemas.microsoft.com/office/drawing/2010/main" val="0"/>
              </a:ext>
            </a:extLst>
          </a:blip>
          <a:srcRect l="18145" t="24554" r="18235" b="8450"/>
          <a:stretch/>
        </p:blipFill>
        <p:spPr>
          <a:xfrm>
            <a:off x="6256866" y="1917054"/>
            <a:ext cx="5136388" cy="3042534"/>
          </a:xfrm>
          <a:prstGeom prst="rect">
            <a:avLst/>
          </a:prstGeom>
        </p:spPr>
      </p:pic>
      <p:sp>
        <p:nvSpPr>
          <p:cNvPr id="4" name="Slide Number Placeholder 3">
            <a:extLst>
              <a:ext uri="{FF2B5EF4-FFF2-40B4-BE49-F238E27FC236}">
                <a16:creationId xmlns:a16="http://schemas.microsoft.com/office/drawing/2014/main" id="{5AA91F39-B6AE-74A9-B65A-45AB3FC76541}"/>
              </a:ext>
            </a:extLst>
          </p:cNvPr>
          <p:cNvSpPr>
            <a:spLocks noGrp="1"/>
          </p:cNvSpPr>
          <p:nvPr>
            <p:ph type="sldNum" sz="quarter" idx="12"/>
          </p:nvPr>
        </p:nvSpPr>
        <p:spPr>
          <a:xfrm>
            <a:off x="10993582" y="6446838"/>
            <a:ext cx="780010" cy="365125"/>
          </a:xfrm>
        </p:spPr>
        <p:txBody>
          <a:bodyPr vert="horz" lIns="91440" tIns="45720" rIns="91440" bIns="45720" rtlCol="0">
            <a:normAutofit/>
          </a:bodyPr>
          <a:lstStyle/>
          <a:p>
            <a:pPr>
              <a:spcAft>
                <a:spcPts val="600"/>
              </a:spcAft>
            </a:pPr>
            <a:fld id="{3A98EE3D-8CD1-4C3F-BD1C-C98C9596463C}" type="slidenum">
              <a:rPr lang="en-US" smtClean="0"/>
              <a:pPr>
                <a:spcAft>
                  <a:spcPts val="600"/>
                </a:spcAft>
              </a:pPr>
              <a:t>19</a:t>
            </a:fld>
            <a:endParaRPr lang="en-US"/>
          </a:p>
        </p:txBody>
      </p:sp>
    </p:spTree>
    <p:extLst>
      <p:ext uri="{BB962C8B-B14F-4D97-AF65-F5344CB8AC3E}">
        <p14:creationId xmlns:p14="http://schemas.microsoft.com/office/powerpoint/2010/main" val="3490874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F64BBAA4-C62B-4146-B49F-FE4CC4655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EEB57AA8-F021-480C-A9E2-F899133136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62164" y="2478513"/>
            <a:ext cx="292608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Rectangle 2">
            <a:extLst>
              <a:ext uri="{FF2B5EF4-FFF2-40B4-BE49-F238E27FC236}">
                <a16:creationId xmlns:a16="http://schemas.microsoft.com/office/drawing/2014/main" id="{6E40AECC-B51E-F38E-9895-A3395CB80511}"/>
              </a:ext>
            </a:extLst>
          </p:cNvPr>
          <p:cNvSpPr>
            <a:spLocks noChangeArrowheads="1"/>
          </p:cNvSpPr>
          <p:nvPr/>
        </p:nvSpPr>
        <p:spPr bwMode="auto">
          <a:xfrm>
            <a:off x="858064" y="2639380"/>
            <a:ext cx="3205049" cy="322971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45720" rIns="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eaLnBrk="1" fontAlgn="base" hangingPunct="1">
              <a:spcBef>
                <a:spcPct val="0"/>
              </a:spcBef>
              <a:spcAft>
                <a:spcPts val="600"/>
              </a:spcAft>
              <a:buClrTx/>
              <a:buSzTx/>
              <a:buFont typeface="Calibri" panose="020F0502020204030204" pitchFamily="34" charset="0"/>
              <a:buNone/>
              <a:tabLst/>
            </a:pPr>
            <a:r>
              <a:rPr kumimoji="0" lang="en-US" altLang="en-US" b="0" i="0" u="none" strike="noStrike" cap="none" normalizeH="0" baseline="0" dirty="0">
                <a:ln>
                  <a:noFill/>
                </a:ln>
                <a:solidFill>
                  <a:schemeClr val="tx1">
                    <a:lumMod val="75000"/>
                    <a:lumOff val="25000"/>
                  </a:schemeClr>
                </a:solidFill>
                <a:effectLst/>
                <a:latin typeface="+mn-lt"/>
              </a:rPr>
              <a:t>ADF Statistic: </a:t>
            </a:r>
          </a:p>
          <a:p>
            <a:pPr marL="0" marR="0" lvl="0" indent="0" eaLnBrk="1" fontAlgn="base" hangingPunct="1">
              <a:spcBef>
                <a:spcPct val="0"/>
              </a:spcBef>
              <a:spcAft>
                <a:spcPts val="600"/>
              </a:spcAft>
              <a:buClrTx/>
              <a:buSzTx/>
              <a:buFont typeface="Calibri" panose="020F0502020204030204" pitchFamily="34" charset="0"/>
              <a:buNone/>
              <a:tabLst/>
            </a:pPr>
            <a:r>
              <a:rPr kumimoji="0" lang="en-US" altLang="en-US" b="0" i="0" u="none" strike="noStrike" cap="none" normalizeH="0" baseline="0" dirty="0">
                <a:ln>
                  <a:noFill/>
                </a:ln>
                <a:solidFill>
                  <a:schemeClr val="tx1">
                    <a:lumMod val="75000"/>
                    <a:lumOff val="25000"/>
                  </a:schemeClr>
                </a:solidFill>
                <a:effectLst/>
                <a:latin typeface="+mn-lt"/>
              </a:rPr>
              <a:t>-0.34333818935724303</a:t>
            </a:r>
          </a:p>
          <a:p>
            <a:pPr marL="0" marR="0" lvl="0" indent="0" eaLnBrk="1" fontAlgn="base" hangingPunct="1">
              <a:spcBef>
                <a:spcPct val="0"/>
              </a:spcBef>
              <a:spcAft>
                <a:spcPts val="600"/>
              </a:spcAft>
              <a:buClrTx/>
              <a:buSzTx/>
              <a:buFont typeface="Calibri" panose="020F0502020204030204" pitchFamily="34" charset="0"/>
              <a:buNone/>
              <a:tabLst/>
            </a:pPr>
            <a:r>
              <a:rPr kumimoji="0" lang="en-US" altLang="en-US" b="0" i="0" u="none" strike="noStrike" cap="none" normalizeH="0" baseline="0" dirty="0">
                <a:ln>
                  <a:noFill/>
                </a:ln>
                <a:solidFill>
                  <a:schemeClr val="tx1">
                    <a:lumMod val="75000"/>
                    <a:lumOff val="25000"/>
                  </a:schemeClr>
                </a:solidFill>
                <a:effectLst/>
                <a:latin typeface="+mn-lt"/>
              </a:rPr>
              <a:t> p-value: 0.9191381231698867</a:t>
            </a:r>
          </a:p>
          <a:p>
            <a:pPr marL="0" marR="0" lvl="0" indent="0" eaLnBrk="1" fontAlgn="base" hangingPunct="1">
              <a:spcBef>
                <a:spcPct val="0"/>
              </a:spcBef>
              <a:spcAft>
                <a:spcPts val="600"/>
              </a:spcAft>
              <a:buClrTx/>
              <a:buSzTx/>
              <a:buFont typeface="Calibri" panose="020F0502020204030204" pitchFamily="34" charset="0"/>
              <a:buNone/>
              <a:tabLst/>
            </a:pPr>
            <a:r>
              <a:rPr kumimoji="0" lang="en-US" altLang="en-US" b="0" i="0" u="none" strike="noStrike" cap="none" normalizeH="0" baseline="0" dirty="0">
                <a:ln>
                  <a:noFill/>
                </a:ln>
                <a:solidFill>
                  <a:schemeClr val="tx1">
                    <a:lumMod val="75000"/>
                    <a:lumOff val="25000"/>
                  </a:schemeClr>
                </a:solidFill>
                <a:effectLst/>
                <a:latin typeface="+mn-lt"/>
              </a:rPr>
              <a:t> The time series is not stationary. </a:t>
            </a:r>
          </a:p>
          <a:p>
            <a:pPr marL="0" marR="0" lvl="0" indent="0" eaLnBrk="1" fontAlgn="base" hangingPunct="1">
              <a:spcBef>
                <a:spcPct val="0"/>
              </a:spcBef>
              <a:spcAft>
                <a:spcPts val="600"/>
              </a:spcAft>
              <a:buClrTx/>
              <a:buSzTx/>
              <a:buFont typeface="Calibri" panose="020F0502020204030204" pitchFamily="34" charset="0"/>
              <a:buNone/>
              <a:tabLst/>
            </a:pPr>
            <a:r>
              <a:rPr kumimoji="0" lang="en-US" altLang="en-US" b="0" i="0" u="none" strike="noStrike" cap="none" normalizeH="0" baseline="0" dirty="0">
                <a:ln>
                  <a:noFill/>
                </a:ln>
                <a:solidFill>
                  <a:schemeClr val="tx1">
                    <a:lumMod val="75000"/>
                    <a:lumOff val="25000"/>
                  </a:schemeClr>
                </a:solidFill>
                <a:effectLst/>
                <a:latin typeface="+mn-lt"/>
              </a:rPr>
              <a:t>Mean RMSE across 5 folds: 3104.7319643832425</a:t>
            </a:r>
          </a:p>
        </p:txBody>
      </p:sp>
      <p:pic>
        <p:nvPicPr>
          <p:cNvPr id="4" name="Picture 3" descr="A screenshot of a computer&#10;&#10;Description automatically generated">
            <a:extLst>
              <a:ext uri="{FF2B5EF4-FFF2-40B4-BE49-F238E27FC236}">
                <a16:creationId xmlns:a16="http://schemas.microsoft.com/office/drawing/2014/main" id="{1A6C3D39-4788-1E12-1A5F-5AAE73D1C6F8}"/>
              </a:ext>
            </a:extLst>
          </p:cNvPr>
          <p:cNvPicPr>
            <a:picLocks noChangeAspect="1"/>
          </p:cNvPicPr>
          <p:nvPr/>
        </p:nvPicPr>
        <p:blipFill>
          <a:blip r:embed="rId2">
            <a:extLst>
              <a:ext uri="{28A0092B-C50C-407E-A947-70E740481C1C}">
                <a14:useLocalDpi xmlns:a14="http://schemas.microsoft.com/office/drawing/2010/main" val="0"/>
              </a:ext>
            </a:extLst>
          </a:blip>
          <a:srcRect l="8839" t="13809" r="35982" b="16826"/>
          <a:stretch/>
        </p:blipFill>
        <p:spPr>
          <a:xfrm>
            <a:off x="4653447" y="819367"/>
            <a:ext cx="6892560" cy="4873819"/>
          </a:xfrm>
          <a:prstGeom prst="rect">
            <a:avLst/>
          </a:prstGeom>
        </p:spPr>
      </p:pic>
      <p:sp>
        <p:nvSpPr>
          <p:cNvPr id="20" name="Rectangle 19">
            <a:extLst>
              <a:ext uri="{FF2B5EF4-FFF2-40B4-BE49-F238E27FC236}">
                <a16:creationId xmlns:a16="http://schemas.microsoft.com/office/drawing/2014/main" id="{6BF36B24-6632-4516-9692-731462896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9158F5BD-F65D-555C-B8A2-5CFEBF7AEFD0}"/>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spcAft>
                <a:spcPts val="600"/>
              </a:spcAft>
            </a:pPr>
            <a:fld id="{3A98EE3D-8CD1-4C3F-BD1C-C98C9596463C}" type="slidenum">
              <a:rPr lang="en-US" sz="1050" smtClean="0"/>
              <a:pPr>
                <a:spcAft>
                  <a:spcPts val="600"/>
                </a:spcAft>
              </a:pPr>
              <a:t>20</a:t>
            </a:fld>
            <a:endParaRPr lang="en-US" sz="1050"/>
          </a:p>
        </p:txBody>
      </p:sp>
      <p:sp>
        <p:nvSpPr>
          <p:cNvPr id="5" name="TextBox 4">
            <a:extLst>
              <a:ext uri="{FF2B5EF4-FFF2-40B4-BE49-F238E27FC236}">
                <a16:creationId xmlns:a16="http://schemas.microsoft.com/office/drawing/2014/main" id="{1B9CCECF-C8C3-8741-A1F6-F8B710B7AA1F}"/>
              </a:ext>
            </a:extLst>
          </p:cNvPr>
          <p:cNvSpPr txBox="1"/>
          <p:nvPr/>
        </p:nvSpPr>
        <p:spPr>
          <a:xfrm>
            <a:off x="8196944" y="674915"/>
            <a:ext cx="3254828" cy="723275"/>
          </a:xfrm>
          <a:prstGeom prst="rect">
            <a:avLst/>
          </a:prstGeom>
          <a:noFill/>
        </p:spPr>
        <p:txBody>
          <a:bodyPr wrap="square" rtlCol="0">
            <a:spAutoFit/>
          </a:bodyPr>
          <a:lstStyle/>
          <a:p>
            <a:pPr>
              <a:spcAft>
                <a:spcPts val="600"/>
              </a:spcAft>
            </a:pPr>
            <a:endParaRPr lang="en-US"/>
          </a:p>
          <a:p>
            <a:pPr>
              <a:spcAft>
                <a:spcPts val="600"/>
              </a:spcAft>
            </a:pPr>
            <a:endParaRPr lang="en-US"/>
          </a:p>
        </p:txBody>
      </p:sp>
    </p:spTree>
    <p:extLst>
      <p:ext uri="{BB962C8B-B14F-4D97-AF65-F5344CB8AC3E}">
        <p14:creationId xmlns:p14="http://schemas.microsoft.com/office/powerpoint/2010/main" val="1183240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Rectangle 78">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80" name="Straight Connector 79">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82" name="Straight Connector 81">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5896" y="2353592"/>
            <a:ext cx="53035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7B0A229-90C8-DD3E-CFB7-884C53D59308}"/>
              </a:ext>
            </a:extLst>
          </p:cNvPr>
          <p:cNvSpPr txBox="1"/>
          <p:nvPr/>
        </p:nvSpPr>
        <p:spPr>
          <a:xfrm>
            <a:off x="965152" y="806344"/>
            <a:ext cx="9966960" cy="1547248"/>
          </a:xfrm>
          <a:prstGeom prst="rect">
            <a:avLst/>
          </a:prstGeom>
        </p:spPr>
        <p:txBody>
          <a:bodyPr vert="horz" lIns="0" tIns="45720" rIns="0" bIns="45720" rtlCol="0">
            <a:normAutofit/>
          </a:bodyPr>
          <a:lstStyle/>
          <a:p>
            <a:pPr algn="just">
              <a:lnSpc>
                <a:spcPct val="150000"/>
              </a:lnSpc>
              <a:spcAft>
                <a:spcPts val="600"/>
              </a:spcAft>
              <a:buFont typeface="Calibri" panose="020F0502020204030204" pitchFamily="34" charset="0"/>
            </a:pPr>
            <a:r>
              <a:rPr lang="en-US" dirty="0">
                <a:latin typeface="Times New Roman" panose="02020603050405020304" pitchFamily="18" charset="0"/>
                <a:cs typeface="Times New Roman" panose="02020603050405020304" pitchFamily="18" charset="0"/>
              </a:rPr>
              <a:t>In time series forecasting with ARIMA, the model predicts future values based on past values. The last date in the training set is December 2019, so the first forecast is January 2020.</a:t>
            </a:r>
          </a:p>
        </p:txBody>
      </p:sp>
      <p:pic>
        <p:nvPicPr>
          <p:cNvPr id="6" name="Picture 5" descr="A screenshot of a computer&#10;&#10;Description automatically generated">
            <a:extLst>
              <a:ext uri="{FF2B5EF4-FFF2-40B4-BE49-F238E27FC236}">
                <a16:creationId xmlns:a16="http://schemas.microsoft.com/office/drawing/2014/main" id="{5DEAC6E3-ECFA-DA70-1D3D-D09082C6F552}"/>
              </a:ext>
            </a:extLst>
          </p:cNvPr>
          <p:cNvPicPr>
            <a:picLocks noChangeAspect="1"/>
          </p:cNvPicPr>
          <p:nvPr/>
        </p:nvPicPr>
        <p:blipFill>
          <a:blip r:embed="rId2">
            <a:extLst>
              <a:ext uri="{28A0092B-C50C-407E-A947-70E740481C1C}">
                <a14:useLocalDpi xmlns:a14="http://schemas.microsoft.com/office/drawing/2010/main" val="0"/>
              </a:ext>
            </a:extLst>
          </a:blip>
          <a:srcRect l="18272" t="22937" r="16503" b="15623"/>
          <a:stretch/>
        </p:blipFill>
        <p:spPr>
          <a:xfrm>
            <a:off x="5046590" y="2843650"/>
            <a:ext cx="6800292" cy="3603188"/>
          </a:xfrm>
          <a:prstGeom prst="rect">
            <a:avLst/>
          </a:prstGeom>
        </p:spPr>
      </p:pic>
      <p:pic>
        <p:nvPicPr>
          <p:cNvPr id="8" name="Picture 7">
            <a:extLst>
              <a:ext uri="{FF2B5EF4-FFF2-40B4-BE49-F238E27FC236}">
                <a16:creationId xmlns:a16="http://schemas.microsoft.com/office/drawing/2014/main" id="{5C14F2F0-2EF4-06C9-5CFC-699A781DDBB0}"/>
              </a:ext>
            </a:extLst>
          </p:cNvPr>
          <p:cNvPicPr>
            <a:picLocks noChangeAspect="1"/>
          </p:cNvPicPr>
          <p:nvPr/>
        </p:nvPicPr>
        <p:blipFill>
          <a:blip r:embed="rId3">
            <a:extLst>
              <a:ext uri="{28A0092B-C50C-407E-A947-70E740481C1C}">
                <a14:useLocalDpi xmlns:a14="http://schemas.microsoft.com/office/drawing/2010/main" val="0"/>
              </a:ext>
            </a:extLst>
          </a:blip>
          <a:srcRect l="6435" t="15168" r="38442" b="7915"/>
          <a:stretch/>
        </p:blipFill>
        <p:spPr>
          <a:xfrm>
            <a:off x="442637" y="2927232"/>
            <a:ext cx="4258836" cy="3342741"/>
          </a:xfrm>
          <a:prstGeom prst="rect">
            <a:avLst/>
          </a:prstGeom>
        </p:spPr>
      </p:pic>
      <p:sp>
        <p:nvSpPr>
          <p:cNvPr id="2" name="Slide Number Placeholder 1">
            <a:extLst>
              <a:ext uri="{FF2B5EF4-FFF2-40B4-BE49-F238E27FC236}">
                <a16:creationId xmlns:a16="http://schemas.microsoft.com/office/drawing/2014/main" id="{A2706363-2BED-9D93-9990-3ECFF895C11B}"/>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spcAft>
                <a:spcPts val="600"/>
              </a:spcAft>
            </a:pPr>
            <a:fld id="{3A98EE3D-8CD1-4C3F-BD1C-C98C9596463C}" type="slidenum">
              <a:rPr lang="en-US" sz="1050">
                <a:solidFill>
                  <a:schemeClr val="tx1"/>
                </a:solidFill>
              </a:rPr>
              <a:pPr>
                <a:spcAft>
                  <a:spcPts val="600"/>
                </a:spcAft>
              </a:pPr>
              <a:t>21</a:t>
            </a:fld>
            <a:endParaRPr lang="en-US" sz="1050">
              <a:solidFill>
                <a:schemeClr val="tx1"/>
              </a:solidFill>
            </a:endParaRPr>
          </a:p>
        </p:txBody>
      </p:sp>
    </p:spTree>
    <p:extLst>
      <p:ext uri="{BB962C8B-B14F-4D97-AF65-F5344CB8AC3E}">
        <p14:creationId xmlns:p14="http://schemas.microsoft.com/office/powerpoint/2010/main" val="868707735"/>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EAF3E4-5428-E93E-669C-DA3273591BF1}"/>
              </a:ext>
            </a:extLst>
          </p:cNvPr>
          <p:cNvSpPr>
            <a:spLocks noGrp="1"/>
          </p:cNvSpPr>
          <p:nvPr>
            <p:ph type="title"/>
          </p:nvPr>
        </p:nvSpPr>
        <p:spPr/>
        <p:txBody>
          <a:bodyPr/>
          <a:lstStyle/>
          <a:p>
            <a:r>
              <a:rPr lang="en-US" dirty="0"/>
              <a:t>Challenges and Improvements</a:t>
            </a:r>
          </a:p>
        </p:txBody>
      </p:sp>
      <p:graphicFrame>
        <p:nvGraphicFramePr>
          <p:cNvPr id="7" name="Content Placeholder 4">
            <a:extLst>
              <a:ext uri="{FF2B5EF4-FFF2-40B4-BE49-F238E27FC236}">
                <a16:creationId xmlns:a16="http://schemas.microsoft.com/office/drawing/2014/main" id="{5791BCBE-73F1-CE7E-908E-9E61EE1BB0FA}"/>
              </a:ext>
            </a:extLst>
          </p:cNvPr>
          <p:cNvGraphicFramePr>
            <a:graphicFrameLocks noGrp="1"/>
          </p:cNvGraphicFramePr>
          <p:nvPr>
            <p:ph idx="1"/>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31514D55-A4F1-0ECE-4EB5-E27CFD3FBC9B}"/>
              </a:ext>
            </a:extLst>
          </p:cNvPr>
          <p:cNvSpPr>
            <a:spLocks noGrp="1"/>
          </p:cNvSpPr>
          <p:nvPr>
            <p:ph type="sldNum" sz="quarter" idx="12"/>
          </p:nvPr>
        </p:nvSpPr>
        <p:spPr/>
        <p:txBody>
          <a:bodyPr/>
          <a:lstStyle/>
          <a:p>
            <a:fld id="{3A98EE3D-8CD1-4C3F-BD1C-C98C9596463C}" type="slidenum">
              <a:rPr lang="en-US" smtClean="0"/>
              <a:t>22</a:t>
            </a:fld>
            <a:endParaRPr lang="en-US" dirty="0"/>
          </a:p>
        </p:txBody>
      </p:sp>
    </p:spTree>
    <p:extLst>
      <p:ext uri="{BB962C8B-B14F-4D97-AF65-F5344CB8AC3E}">
        <p14:creationId xmlns:p14="http://schemas.microsoft.com/office/powerpoint/2010/main" val="964858414"/>
      </p:ext>
    </p:extLst>
  </p:cSld>
  <p:clrMapOvr>
    <a:masterClrMapping/>
  </p:clrMapOvr>
</p:sld>
</file>

<file path=ppt/theme/theme1.xml><?xml version="1.0" encoding="utf-8"?>
<a:theme xmlns:a="http://schemas.openxmlformats.org/drawingml/2006/main" name="RetrospectVTI">
  <a:themeElements>
    <a:clrScheme name="AnalogousFromLightSeedLeftStep">
      <a:dk1>
        <a:srgbClr val="000000"/>
      </a:dk1>
      <a:lt1>
        <a:srgbClr val="FFFFFF"/>
      </a:lt1>
      <a:dk2>
        <a:srgbClr val="243241"/>
      </a:dk2>
      <a:lt2>
        <a:srgbClr val="E2E5E8"/>
      </a:lt2>
      <a:accent1>
        <a:srgbClr val="BA9C80"/>
      </a:accent1>
      <a:accent2>
        <a:srgbClr val="BA827F"/>
      </a:accent2>
      <a:accent3>
        <a:srgbClr val="C594A6"/>
      </a:accent3>
      <a:accent4>
        <a:srgbClr val="BA7FAD"/>
      </a:accent4>
      <a:accent5>
        <a:srgbClr val="BC94C5"/>
      </a:accent5>
      <a:accent6>
        <a:srgbClr val="967FBA"/>
      </a:accent6>
      <a:hlink>
        <a:srgbClr val="5E85A8"/>
      </a:hlink>
      <a:folHlink>
        <a:srgbClr val="7F7F7F"/>
      </a:folHlink>
    </a:clrScheme>
    <a:fontScheme name="Retrospect">
      <a:majorFont>
        <a:latin typeface="Avenir Next LT Pro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LT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581</TotalTime>
  <Words>718</Words>
  <Application>Microsoft Office PowerPoint</Application>
  <PresentationFormat>Widescreen</PresentationFormat>
  <Paragraphs>77</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Avenir Next LT Pro</vt:lpstr>
      <vt:lpstr>Avenir Next LT Pro Light</vt:lpstr>
      <vt:lpstr>Calibri</vt:lpstr>
      <vt:lpstr>Times New Roman</vt:lpstr>
      <vt:lpstr>RetrospectVTI</vt:lpstr>
      <vt:lpstr>From Data to Safety: Predicting Crime Hotspots and Trends </vt:lpstr>
      <vt:lpstr>Snapshot of GitHub Page</vt:lpstr>
      <vt:lpstr>INTRODUCTION</vt:lpstr>
      <vt:lpstr>Dataset</vt:lpstr>
      <vt:lpstr>Exploratory Data Analysis </vt:lpstr>
      <vt:lpstr>PowerPoint Presentation</vt:lpstr>
      <vt:lpstr>PowerPoint Presentation</vt:lpstr>
      <vt:lpstr>PowerPoint Presentation</vt:lpstr>
      <vt:lpstr>Overview of Similar Approaches</vt:lpstr>
      <vt:lpstr> Crime Classification:</vt:lpstr>
      <vt:lpstr>Proposed Methodology: 1.  Crime Spatial Analysis</vt:lpstr>
      <vt:lpstr>PowerPoint Presentation</vt:lpstr>
      <vt:lpstr>PowerPoint Presentation</vt:lpstr>
      <vt:lpstr>PowerPoint Presentation</vt:lpstr>
      <vt:lpstr>  2. Crime Trend Analysis</vt:lpstr>
      <vt:lpstr>PowerPoint Presentation</vt:lpstr>
      <vt:lpstr>PowerPoint Presentation</vt:lpstr>
      <vt:lpstr>ARIMA Model</vt:lpstr>
      <vt:lpstr>PowerPoint Presentation</vt:lpstr>
      <vt:lpstr>PowerPoint Presentation</vt:lpstr>
      <vt:lpstr>PowerPoint Presentation</vt:lpstr>
      <vt:lpstr>Challenges and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Sindhu Beeravolu</dc:creator>
  <cp:lastModifiedBy>Chandana Anugu</cp:lastModifiedBy>
  <cp:revision>12</cp:revision>
  <dcterms:created xsi:type="dcterms:W3CDTF">2024-09-17T17:51:26Z</dcterms:created>
  <dcterms:modified xsi:type="dcterms:W3CDTF">2024-10-23T03:30:42Z</dcterms:modified>
</cp:coreProperties>
</file>